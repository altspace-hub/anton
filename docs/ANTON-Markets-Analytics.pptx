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719"/>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D7D6C"/>
          </a:solidFill>
          <a:ln w="12700">
            <a:solidFill>
              <a:srgbClr val="333333"/>
            </a:solidFill>
            <a:prstDash val="solid"/>
          </a:ln>
        </p:spPr>
      </p:sp>
      <p:sp>
        <p:nvSpPr>
          <p:cNvPr id="3" name="Text 1"/>
          <p:cNvSpPr/>
          <p:nvPr/>
        </p:nvSpPr>
        <p:spPr>
          <a:xfrm>
            <a:off x="841248" y="1325880"/>
            <a:ext cx="9144000" cy="274320"/>
          </a:xfrm>
          <a:prstGeom prst="rect">
            <a:avLst/>
          </a:prstGeom>
          <a:noFill/>
          <a:ln/>
        </p:spPr>
        <p:txBody>
          <a:bodyPr wrap="square" rtlCol="0" anchor="ctr"/>
          <a:lstStyle/>
          <a:p>
            <a:pPr indent="0" marL="0">
              <a:buNone/>
            </a:pPr>
            <a:r>
              <a:rPr lang="en-US" sz="1100" b="1" spc="220" kern="0" dirty="0">
                <a:solidFill>
                  <a:srgbClr val="3DD9AE"/>
                </a:solidFill>
                <a:latin typeface="Segoe UI" pitchFamily="34" charset="0"/>
                <a:ea typeface="Segoe UI" pitchFamily="34" charset="-122"/>
                <a:cs typeface="Segoe UI" pitchFamily="34" charset="-120"/>
              </a:rPr>
              <a:t>ANTON BY OPENEXPERT</a:t>
            </a:r>
            <a:endParaRPr lang="en-US" sz="1100" dirty="0"/>
          </a:p>
        </p:txBody>
      </p:sp>
      <p:sp>
        <p:nvSpPr>
          <p:cNvPr id="4" name="Text 2"/>
          <p:cNvSpPr/>
          <p:nvPr/>
        </p:nvSpPr>
        <p:spPr>
          <a:xfrm>
            <a:off x="841248" y="1828800"/>
            <a:ext cx="10241280" cy="731520"/>
          </a:xfrm>
          <a:prstGeom prst="rect">
            <a:avLst/>
          </a:prstGeom>
          <a:noFill/>
          <a:ln/>
        </p:spPr>
        <p:txBody>
          <a:bodyPr wrap="square" rtlCol="0" anchor="ctr"/>
          <a:lstStyle/>
          <a:p>
            <a:pPr indent="0" marL="0">
              <a:buNone/>
            </a:pPr>
            <a:r>
              <a:rPr lang="en-US" sz="3800" b="1" dirty="0">
                <a:solidFill>
                  <a:srgbClr val="EAF2F1"/>
                </a:solidFill>
                <a:latin typeface="Segoe UI" pitchFamily="34" charset="0"/>
                <a:ea typeface="Segoe UI" pitchFamily="34" charset="-122"/>
                <a:cs typeface="Segoe UI" pitchFamily="34" charset="-120"/>
              </a:rPr>
              <a:t>Anyone can generate a market opinion.</a:t>
            </a:r>
            <a:endParaRPr lang="en-US" sz="3800" dirty="0"/>
          </a:p>
        </p:txBody>
      </p:sp>
      <p:sp>
        <p:nvSpPr>
          <p:cNvPr id="5" name="Text 3"/>
          <p:cNvSpPr/>
          <p:nvPr/>
        </p:nvSpPr>
        <p:spPr>
          <a:xfrm>
            <a:off x="841248" y="2560320"/>
            <a:ext cx="10424160" cy="731520"/>
          </a:xfrm>
          <a:prstGeom prst="rect">
            <a:avLst/>
          </a:prstGeom>
          <a:noFill/>
          <a:ln/>
        </p:spPr>
        <p:txBody>
          <a:bodyPr wrap="square" rtlCol="0" anchor="ctr"/>
          <a:lstStyle/>
          <a:p>
            <a:pPr indent="0" marL="0">
              <a:buNone/>
            </a:pPr>
            <a:r>
              <a:rPr lang="en-US" sz="3800" b="1" dirty="0">
                <a:solidFill>
                  <a:srgbClr val="3DD9AE"/>
                </a:solidFill>
                <a:latin typeface="Segoe UI" pitchFamily="34" charset="0"/>
                <a:ea typeface="Segoe UI" pitchFamily="34" charset="-122"/>
                <a:cs typeface="Segoe UI" pitchFamily="34" charset="-120"/>
              </a:rPr>
              <a:t>The hard part is knowing whether it was any good.</a:t>
            </a:r>
            <a:endParaRPr lang="en-US" sz="3800" dirty="0"/>
          </a:p>
        </p:txBody>
      </p:sp>
      <p:sp>
        <p:nvSpPr>
          <p:cNvPr id="6" name="Text 4"/>
          <p:cNvSpPr/>
          <p:nvPr/>
        </p:nvSpPr>
        <p:spPr>
          <a:xfrm>
            <a:off x="841248" y="3611880"/>
            <a:ext cx="8778240" cy="822960"/>
          </a:xfrm>
          <a:prstGeom prst="rect">
            <a:avLst/>
          </a:prstGeom>
          <a:noFill/>
          <a:ln/>
        </p:spPr>
        <p:txBody>
          <a:bodyPr wrap="square" rtlCol="0" anchor="ctr"/>
          <a:lstStyle/>
          <a:p>
            <a:pPr indent="0" marL="0">
              <a:lnSpc>
                <a:spcPct val="130000"/>
              </a:lnSpc>
              <a:buNone/>
            </a:pPr>
            <a:r>
              <a:rPr lang="en-US" sz="1500" dirty="0">
                <a:solidFill>
                  <a:srgbClr val="C3D3D2"/>
                </a:solidFill>
                <a:latin typeface="Georgia" pitchFamily="34" charset="0"/>
                <a:ea typeface="Georgia" pitchFamily="34" charset="-122"/>
                <a:cs typeface="Georgia" pitchFamily="34" charset="-120"/>
              </a:rPr>
              <a:t>A closed-loop forecasting system: it commits to falsifiable predictions with stated confidence, grades itself against price data, and investigates its own failures.</a:t>
            </a:r>
            <a:endParaRPr lang="en-US" sz="1500" dirty="0"/>
          </a:p>
        </p:txBody>
      </p:sp>
      <p:sp>
        <p:nvSpPr>
          <p:cNvPr id="7" name="Text 5"/>
          <p:cNvSpPr/>
          <p:nvPr/>
        </p:nvSpPr>
        <p:spPr>
          <a:xfrm>
            <a:off x="841248" y="5852160"/>
            <a:ext cx="7315200" cy="274320"/>
          </a:xfrm>
          <a:prstGeom prst="rect">
            <a:avLst/>
          </a:prstGeom>
          <a:noFill/>
          <a:ln/>
        </p:spPr>
        <p:txBody>
          <a:bodyPr wrap="square" rtlCol="0" anchor="ctr"/>
          <a:lstStyle/>
          <a:p>
            <a:pPr indent="0" marL="0">
              <a:buNone/>
            </a:pPr>
            <a:r>
              <a:rPr lang="en-US" sz="1100" dirty="0">
                <a:solidFill>
                  <a:srgbClr val="64797B"/>
                </a:solidFill>
                <a:latin typeface="Consolas" pitchFamily="34" charset="0"/>
                <a:ea typeface="Consolas" pitchFamily="34" charset="-122"/>
                <a:cs typeface="Consolas" pitchFamily="34" charset="-120"/>
              </a:rPr>
              <a:t>AI in Finance  ·  20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B"/>
        </a:solidFill>
      </p:bgPr>
    </p:bg>
    <p:spTree>
      <p:nvGrpSpPr>
        <p:cNvPr id="1" name=""/>
        <p:cNvGrpSpPr/>
        <p:nvPr/>
      </p:nvGrpSpPr>
      <p:grpSpPr>
        <a:xfrm>
          <a:off x="0" y="0"/>
          <a:ext cx="0" cy="0"/>
          <a:chOff x="0" y="0"/>
          <a:chExt cx="0" cy="0"/>
        </a:xfrm>
      </p:grpSpPr>
      <p:sp>
        <p:nvSpPr>
          <p:cNvPr id="2" name="Text 0"/>
          <p:cNvSpPr/>
          <p:nvPr/>
        </p:nvSpPr>
        <p:spPr>
          <a:xfrm>
            <a:off x="658368" y="384048"/>
            <a:ext cx="10872216" cy="237744"/>
          </a:xfrm>
          <a:prstGeom prst="rect">
            <a:avLst/>
          </a:prstGeom>
          <a:noFill/>
          <a:ln/>
        </p:spPr>
        <p:txBody>
          <a:bodyPr wrap="square" rtlCol="0" anchor="ctr"/>
          <a:lstStyle/>
          <a:p>
            <a:pPr indent="0" marL="0">
              <a:buNone/>
            </a:pPr>
            <a:r>
              <a:rPr lang="en-US" sz="1000" b="1" spc="160" kern="0" dirty="0">
                <a:solidFill>
                  <a:srgbClr val="5A6B6E"/>
                </a:solidFill>
                <a:latin typeface="Segoe UI" pitchFamily="34" charset="0"/>
                <a:ea typeface="Segoe UI" pitchFamily="34" charset="-122"/>
                <a:cs typeface="Segoe UI" pitchFamily="34" charset="-120"/>
              </a:rPr>
              <a:t>THE ARGUMENT</a:t>
            </a:r>
            <a:endParaRPr lang="en-US" sz="1000" dirty="0"/>
          </a:p>
        </p:txBody>
      </p:sp>
      <p:sp>
        <p:nvSpPr>
          <p:cNvPr id="3" name="Text 1"/>
          <p:cNvSpPr/>
          <p:nvPr/>
        </p:nvSpPr>
        <p:spPr>
          <a:xfrm>
            <a:off x="658368" y="658368"/>
            <a:ext cx="10872216" cy="658368"/>
          </a:xfrm>
          <a:prstGeom prst="rect">
            <a:avLst/>
          </a:prstGeom>
          <a:noFill/>
          <a:ln/>
        </p:spPr>
        <p:txBody>
          <a:bodyPr wrap="square" rtlCol="0" anchor="ctr"/>
          <a:lstStyle/>
          <a:p>
            <a:pPr indent="0" marL="0">
              <a:buNone/>
            </a:pPr>
            <a:r>
              <a:rPr lang="en-US" sz="2700" b="1" dirty="0">
                <a:solidFill>
                  <a:srgbClr val="0C1719"/>
                </a:solidFill>
                <a:latin typeface="Segoe UI" pitchFamily="34" charset="0"/>
                <a:ea typeface="Segoe UI" pitchFamily="34" charset="-122"/>
                <a:cs typeface="Segoe UI" pitchFamily="34" charset="-120"/>
              </a:rPr>
              <a:t>Most "AI in finance" demos are ungraded</a:t>
            </a:r>
            <a:endParaRPr lang="en-US" sz="2700" dirty="0"/>
          </a:p>
        </p:txBody>
      </p:sp>
      <p:sp>
        <p:nvSpPr>
          <p:cNvPr id="4" name="Shape 2"/>
          <p:cNvSpPr/>
          <p:nvPr/>
        </p:nvSpPr>
        <p:spPr>
          <a:xfrm>
            <a:off x="658368" y="1389888"/>
            <a:ext cx="10872216" cy="10973"/>
          </a:xfrm>
          <a:prstGeom prst="rect">
            <a:avLst/>
          </a:prstGeom>
          <a:solidFill>
            <a:srgbClr val="DCE4E4"/>
          </a:solidFill>
          <a:ln w="12700">
            <a:solidFill>
              <a:srgbClr val="333333"/>
            </a:solidFill>
            <a:prstDash val="solid"/>
          </a:ln>
        </p:spPr>
      </p:sp>
      <p:sp>
        <p:nvSpPr>
          <p:cNvPr id="5" name="Text 3"/>
          <p:cNvSpPr/>
          <p:nvPr/>
        </p:nvSpPr>
        <p:spPr>
          <a:xfrm>
            <a:off x="658368" y="1691640"/>
            <a:ext cx="6766560" cy="1463040"/>
          </a:xfrm>
          <a:prstGeom prst="rect">
            <a:avLst/>
          </a:prstGeom>
          <a:noFill/>
          <a:ln/>
        </p:spPr>
        <p:txBody>
          <a:bodyPr wrap="square" rtlCol="0" anchor="ctr"/>
          <a:lstStyle/>
          <a:p>
            <a:pPr indent="0" marL="0">
              <a:lnSpc>
                <a:spcPct val="135000"/>
              </a:lnSpc>
              <a:buNone/>
            </a:pPr>
            <a:r>
              <a:rPr lang="en-US" sz="1400" dirty="0">
                <a:solidFill>
                  <a:srgbClr val="0C1719"/>
                </a:solidFill>
                <a:latin typeface="Georgia" pitchFamily="34" charset="0"/>
                <a:ea typeface="Georgia" pitchFamily="34" charset="-122"/>
                <a:cs typeface="Georgia" pitchFamily="34" charset="-120"/>
              </a:rPr>
              <a:t>A language model will produce a confident market view on demand. </a:t>
            </a:r>
            <a:pPr indent="0" marL="0">
              <a:lnSpc>
                <a:spcPct val="135000"/>
              </a:lnSpc>
              <a:buNone/>
            </a:pPr>
            <a:r>
              <a:rPr lang="en-US" sz="1400" b="1" dirty="0">
                <a:solidFill>
                  <a:srgbClr val="0C1719"/>
                </a:solidFill>
                <a:latin typeface="Georgia" pitchFamily="34" charset="0"/>
                <a:ea typeface="Georgia" pitchFamily="34" charset="-122"/>
                <a:cs typeface="Georgia" pitchFamily="34" charset="-120"/>
              </a:rPr>
              <a:t>That is not the interesting capability</a:t>
            </a:r>
            <a:pPr indent="0" marL="0">
              <a:lnSpc>
                <a:spcPct val="135000"/>
              </a:lnSpc>
              <a:buNone/>
            </a:pPr>
            <a:r>
              <a:rPr lang="en-US" sz="1400" dirty="0">
                <a:solidFill>
                  <a:srgbClr val="0C1719"/>
                </a:solidFill>
                <a:latin typeface="Georgia" pitchFamily="34" charset="0"/>
                <a:ea typeface="Georgia" pitchFamily="34" charset="-122"/>
                <a:cs typeface="Georgia" pitchFamily="34" charset="-120"/>
              </a:rPr>
              <a:t> — it has been available since 2023, and it is unfalsifiable by construction. Ask the same system three months later whether it was right and it has no idea, because nothing in the pipeline ever wrote the answer down.</a:t>
            </a:r>
            <a:endParaRPr lang="en-US" sz="1400" dirty="0"/>
          </a:p>
        </p:txBody>
      </p:sp>
      <p:sp>
        <p:nvSpPr>
          <p:cNvPr id="6" name="Text 4"/>
          <p:cNvSpPr/>
          <p:nvPr/>
        </p:nvSpPr>
        <p:spPr>
          <a:xfrm>
            <a:off x="658368" y="3291840"/>
            <a:ext cx="6766560" cy="1188720"/>
          </a:xfrm>
          <a:prstGeom prst="rect">
            <a:avLst/>
          </a:prstGeom>
          <a:noFill/>
          <a:ln/>
        </p:spPr>
        <p:txBody>
          <a:bodyPr wrap="square" rtlCol="0" anchor="ctr"/>
          <a:lstStyle/>
          <a:p>
            <a:pPr indent="0" marL="0">
              <a:lnSpc>
                <a:spcPct val="135000"/>
              </a:lnSpc>
              <a:buNone/>
            </a:pPr>
            <a:r>
              <a:rPr lang="en-US" sz="1400" dirty="0">
                <a:solidFill>
                  <a:srgbClr val="5A6B6E"/>
                </a:solidFill>
                <a:latin typeface="Georgia" pitchFamily="34" charset="0"/>
                <a:ea typeface="Georgia" pitchFamily="34" charset="-122"/>
                <a:cs typeface="Georgia" pitchFamily="34" charset="-120"/>
              </a:rPr>
              <a:t>ANTON answers the second question. Every prediction is stored with a stated confidence, a target instrument, a direction and a deadline. When that deadline passes, a deterministic grader settles it against price data — no model involved.</a:t>
            </a:r>
            <a:endParaRPr lang="en-US" sz="1400" dirty="0"/>
          </a:p>
        </p:txBody>
      </p:sp>
      <p:sp>
        <p:nvSpPr>
          <p:cNvPr id="7" name="Shape 5"/>
          <p:cNvSpPr/>
          <p:nvPr/>
        </p:nvSpPr>
        <p:spPr>
          <a:xfrm>
            <a:off x="7772400" y="1691640"/>
            <a:ext cx="3749040" cy="3200400"/>
          </a:xfrm>
          <a:prstGeom prst="rect">
            <a:avLst/>
          </a:prstGeom>
          <a:solidFill>
            <a:srgbClr val="FFFFFF"/>
          </a:solidFill>
          <a:ln w="9525">
            <a:solidFill>
              <a:srgbClr val="DCE4E4"/>
            </a:solidFill>
            <a:prstDash val="solid"/>
          </a:ln>
        </p:spPr>
      </p:sp>
      <p:sp>
        <p:nvSpPr>
          <p:cNvPr id="8" name="Shape 6"/>
          <p:cNvSpPr/>
          <p:nvPr/>
        </p:nvSpPr>
        <p:spPr>
          <a:xfrm>
            <a:off x="7772400" y="1691640"/>
            <a:ext cx="45720" cy="3200400"/>
          </a:xfrm>
          <a:prstGeom prst="rect">
            <a:avLst/>
          </a:prstGeom>
          <a:solidFill>
            <a:srgbClr val="0D7D6C"/>
          </a:solidFill>
          <a:ln w="12700">
            <a:solidFill>
              <a:srgbClr val="333333"/>
            </a:solidFill>
            <a:prstDash val="solid"/>
          </a:ln>
        </p:spPr>
      </p:sp>
      <p:sp>
        <p:nvSpPr>
          <p:cNvPr id="9" name="Text 7"/>
          <p:cNvSpPr/>
          <p:nvPr/>
        </p:nvSpPr>
        <p:spPr>
          <a:xfrm>
            <a:off x="8028432" y="1901952"/>
            <a:ext cx="3291840" cy="237744"/>
          </a:xfrm>
          <a:prstGeom prst="rect">
            <a:avLst/>
          </a:prstGeom>
          <a:noFill/>
          <a:ln/>
        </p:spPr>
        <p:txBody>
          <a:bodyPr wrap="square" rtlCol="0" anchor="ctr"/>
          <a:lstStyle/>
          <a:p>
            <a:pPr indent="0" marL="0">
              <a:buNone/>
            </a:pPr>
            <a:r>
              <a:rPr lang="en-US" sz="900" b="1" spc="140" kern="0" dirty="0">
                <a:solidFill>
                  <a:srgbClr val="0D7D6C"/>
                </a:solidFill>
                <a:latin typeface="Segoe UI" pitchFamily="34" charset="0"/>
                <a:ea typeface="Segoe UI" pitchFamily="34" charset="-122"/>
                <a:cs typeface="Segoe UI" pitchFamily="34" charset="-120"/>
              </a:rPr>
              <a:t>THE DESIGN CONSTRAINT</a:t>
            </a:r>
            <a:endParaRPr lang="en-US" sz="900" dirty="0"/>
          </a:p>
        </p:txBody>
      </p:sp>
      <p:sp>
        <p:nvSpPr>
          <p:cNvPr id="10" name="Text 8"/>
          <p:cNvSpPr/>
          <p:nvPr/>
        </p:nvSpPr>
        <p:spPr>
          <a:xfrm>
            <a:off x="8028432" y="2231136"/>
            <a:ext cx="3291840" cy="914400"/>
          </a:xfrm>
          <a:prstGeom prst="rect">
            <a:avLst/>
          </a:prstGeom>
          <a:noFill/>
          <a:ln/>
        </p:spPr>
        <p:txBody>
          <a:bodyPr wrap="square" rtlCol="0" anchor="ctr"/>
          <a:lstStyle/>
          <a:p>
            <a:pPr indent="0" marL="0">
              <a:lnSpc>
                <a:spcPct val="120000"/>
              </a:lnSpc>
              <a:buNone/>
            </a:pPr>
            <a:r>
              <a:rPr lang="en-US" sz="1500" b="1" dirty="0">
                <a:solidFill>
                  <a:srgbClr val="0C1719"/>
                </a:solidFill>
                <a:latin typeface="Segoe UI" pitchFamily="34" charset="0"/>
                <a:ea typeface="Segoe UI" pitchFamily="34" charset="-122"/>
                <a:cs typeface="Segoe UI" pitchFamily="34" charset="-120"/>
              </a:rPr>
              <a:t>A forecast the system cannot settle must never be recorded as settled.</a:t>
            </a:r>
            <a:endParaRPr lang="en-US" sz="1500" dirty="0"/>
          </a:p>
        </p:txBody>
      </p:sp>
      <p:sp>
        <p:nvSpPr>
          <p:cNvPr id="11" name="Text 9"/>
          <p:cNvSpPr/>
          <p:nvPr/>
        </p:nvSpPr>
        <p:spPr>
          <a:xfrm>
            <a:off x="8028432" y="3246120"/>
            <a:ext cx="3291840" cy="1463040"/>
          </a:xfrm>
          <a:prstGeom prst="rect">
            <a:avLst/>
          </a:prstGeom>
          <a:noFill/>
          <a:ln/>
        </p:spPr>
        <p:txBody>
          <a:bodyPr wrap="square" rtlCol="0" anchor="ctr"/>
          <a:lstStyle/>
          <a:p>
            <a:pPr indent="0" marL="0">
              <a:lnSpc>
                <a:spcPct val="130000"/>
              </a:lnSpc>
              <a:buNone/>
            </a:pPr>
            <a:r>
              <a:rPr lang="en-US" sz="1150" dirty="0">
                <a:solidFill>
                  <a:srgbClr val="5A6B6E"/>
                </a:solidFill>
                <a:latin typeface="Georgia" pitchFamily="34" charset="0"/>
                <a:ea typeface="Georgia" pitchFamily="34" charset="-122"/>
                <a:cs typeface="Georgia" pitchFamily="34" charset="-120"/>
              </a:rPr>
              <a:t>An unverified guess entering the accuracy record is worse than no record at all — it is permanent, it feeds calibration, and nothing downstream can tell it apart from a real measurement.</a:t>
            </a:r>
            <a:endParaRPr lang="en-US" sz="1150" dirty="0"/>
          </a:p>
        </p:txBody>
      </p:sp>
      <p:sp>
        <p:nvSpPr>
          <p:cNvPr id="12" name="Text 10"/>
          <p:cNvSpPr/>
          <p:nvPr/>
        </p:nvSpPr>
        <p:spPr>
          <a:xfrm>
            <a:off x="658368" y="6382512"/>
            <a:ext cx="5486400" cy="237744"/>
          </a:xfrm>
          <a:prstGeom prst="rect">
            <a:avLst/>
          </a:prstGeom>
          <a:noFill/>
          <a:ln/>
        </p:spPr>
        <p:txBody>
          <a:bodyPr wrap="square" rtlCol="0" anchor="ctr"/>
          <a:lstStyle/>
          <a:p>
            <a:pPr indent="0" marL="0">
              <a:buNone/>
            </a:pPr>
            <a:r>
              <a:rPr lang="en-US" sz="900" dirty="0">
                <a:solidFill>
                  <a:srgbClr val="8A9A9C"/>
                </a:solidFill>
                <a:latin typeface="Segoe UI" pitchFamily="34" charset="0"/>
                <a:ea typeface="Segoe UI" pitchFamily="34" charset="-122"/>
                <a:cs typeface="Segoe UI" pitchFamily="34" charset="-120"/>
              </a:rPr>
              <a:t>ANTON by openEXPERT — Markets pillar</a:t>
            </a:r>
            <a:endParaRPr lang="en-US" sz="900" dirty="0"/>
          </a:p>
        </p:txBody>
      </p:sp>
      <p:sp>
        <p:nvSpPr>
          <p:cNvPr id="13" name="Text 11"/>
          <p:cNvSpPr/>
          <p:nvPr/>
        </p:nvSpPr>
        <p:spPr>
          <a:xfrm>
            <a:off x="10981944" y="6382512"/>
            <a:ext cx="548640" cy="237744"/>
          </a:xfrm>
          <a:prstGeom prst="rect">
            <a:avLst/>
          </a:prstGeom>
          <a:noFill/>
          <a:ln/>
        </p:spPr>
        <p:txBody>
          <a:bodyPr wrap="square" rtlCol="0" anchor="ctr"/>
          <a:lstStyle/>
          <a:p>
            <a:pPr algn="r" indent="0" marL="0">
              <a:buNone/>
            </a:pPr>
            <a:r>
              <a:rPr lang="en-US" sz="900" dirty="0">
                <a:solidFill>
                  <a:srgbClr val="8A9A9C"/>
                </a:solidFill>
                <a:latin typeface="Consolas" pitchFamily="34" charset="0"/>
                <a:ea typeface="Consolas" pitchFamily="34" charset="-122"/>
                <a:cs typeface="Consola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B"/>
        </a:solidFill>
      </p:bgPr>
    </p:bg>
    <p:spTree>
      <p:nvGrpSpPr>
        <p:cNvPr id="1" name=""/>
        <p:cNvGrpSpPr/>
        <p:nvPr/>
      </p:nvGrpSpPr>
      <p:grpSpPr>
        <a:xfrm>
          <a:off x="0" y="0"/>
          <a:ext cx="0" cy="0"/>
          <a:chOff x="0" y="0"/>
          <a:chExt cx="0" cy="0"/>
        </a:xfrm>
      </p:grpSpPr>
      <p:sp>
        <p:nvSpPr>
          <p:cNvPr id="2" name="Text 0"/>
          <p:cNvSpPr/>
          <p:nvPr/>
        </p:nvSpPr>
        <p:spPr>
          <a:xfrm>
            <a:off x="658368" y="384048"/>
            <a:ext cx="10872216" cy="237744"/>
          </a:xfrm>
          <a:prstGeom prst="rect">
            <a:avLst/>
          </a:prstGeom>
          <a:noFill/>
          <a:ln/>
        </p:spPr>
        <p:txBody>
          <a:bodyPr wrap="square" rtlCol="0" anchor="ctr"/>
          <a:lstStyle/>
          <a:p>
            <a:pPr indent="0" marL="0">
              <a:buNone/>
            </a:pPr>
            <a:r>
              <a:rPr lang="en-US" sz="1000" b="1" spc="160" kern="0" dirty="0">
                <a:solidFill>
                  <a:srgbClr val="5A6B6E"/>
                </a:solidFill>
                <a:latin typeface="Segoe UI" pitchFamily="34" charset="0"/>
                <a:ea typeface="Segoe UI" pitchFamily="34" charset="-122"/>
                <a:cs typeface="Segoe UI" pitchFamily="34" charset="-120"/>
              </a:rPr>
              <a:t>AT A GLANCE</a:t>
            </a:r>
            <a:endParaRPr lang="en-US" sz="1000" dirty="0"/>
          </a:p>
        </p:txBody>
      </p:sp>
      <p:sp>
        <p:nvSpPr>
          <p:cNvPr id="3" name="Text 1"/>
          <p:cNvSpPr/>
          <p:nvPr/>
        </p:nvSpPr>
        <p:spPr>
          <a:xfrm>
            <a:off x="658368" y="658368"/>
            <a:ext cx="10872216" cy="658368"/>
          </a:xfrm>
          <a:prstGeom prst="rect">
            <a:avLst/>
          </a:prstGeom>
          <a:noFill/>
          <a:ln/>
        </p:spPr>
        <p:txBody>
          <a:bodyPr wrap="square" rtlCol="0" anchor="ctr"/>
          <a:lstStyle/>
          <a:p>
            <a:pPr indent="0" marL="0">
              <a:buNone/>
            </a:pPr>
            <a:r>
              <a:rPr lang="en-US" sz="2700" b="1" dirty="0">
                <a:solidFill>
                  <a:srgbClr val="0C1719"/>
                </a:solidFill>
                <a:latin typeface="Segoe UI" pitchFamily="34" charset="0"/>
                <a:ea typeface="Segoe UI" pitchFamily="34" charset="-122"/>
                <a:cs typeface="Segoe UI" pitchFamily="34" charset="-120"/>
              </a:rPr>
              <a:t>What is running today</a:t>
            </a:r>
            <a:endParaRPr lang="en-US" sz="2700" dirty="0"/>
          </a:p>
        </p:txBody>
      </p:sp>
      <p:sp>
        <p:nvSpPr>
          <p:cNvPr id="4" name="Shape 2"/>
          <p:cNvSpPr/>
          <p:nvPr/>
        </p:nvSpPr>
        <p:spPr>
          <a:xfrm>
            <a:off x="658368" y="1389888"/>
            <a:ext cx="10872216" cy="10973"/>
          </a:xfrm>
          <a:prstGeom prst="rect">
            <a:avLst/>
          </a:prstGeom>
          <a:solidFill>
            <a:srgbClr val="DCE4E4"/>
          </a:solidFill>
          <a:ln w="12700">
            <a:solidFill>
              <a:srgbClr val="333333"/>
            </a:solidFill>
            <a:prstDash val="solid"/>
          </a:ln>
        </p:spPr>
      </p:sp>
      <p:sp>
        <p:nvSpPr>
          <p:cNvPr id="5" name="Shape 3"/>
          <p:cNvSpPr/>
          <p:nvPr/>
        </p:nvSpPr>
        <p:spPr>
          <a:xfrm>
            <a:off x="658368" y="1737360"/>
            <a:ext cx="2615184" cy="1170432"/>
          </a:xfrm>
          <a:prstGeom prst="rect">
            <a:avLst/>
          </a:prstGeom>
          <a:solidFill>
            <a:srgbClr val="FFFFFF"/>
          </a:solidFill>
          <a:ln w="9525">
            <a:solidFill>
              <a:srgbClr val="DCE4E4"/>
            </a:solidFill>
            <a:prstDash val="solid"/>
          </a:ln>
        </p:spPr>
      </p:sp>
      <p:sp>
        <p:nvSpPr>
          <p:cNvPr id="6" name="Text 4"/>
          <p:cNvSpPr/>
          <p:nvPr/>
        </p:nvSpPr>
        <p:spPr>
          <a:xfrm>
            <a:off x="822960" y="1865376"/>
            <a:ext cx="2286000" cy="219456"/>
          </a:xfrm>
          <a:prstGeom prst="rect">
            <a:avLst/>
          </a:prstGeom>
          <a:noFill/>
          <a:ln/>
        </p:spPr>
        <p:txBody>
          <a:bodyPr wrap="square" rtlCol="0" anchor="ctr"/>
          <a:lstStyle/>
          <a:p>
            <a:pPr indent="0" marL="0">
              <a:buNone/>
            </a:pPr>
            <a:r>
              <a:rPr lang="en-US" sz="850" b="1" spc="120" kern="0" dirty="0">
                <a:solidFill>
                  <a:srgbClr val="5A6B6E"/>
                </a:solidFill>
                <a:latin typeface="Segoe UI" pitchFamily="34" charset="0"/>
                <a:ea typeface="Segoe UI" pitchFamily="34" charset="-122"/>
                <a:cs typeface="Segoe UI" pitchFamily="34" charset="-120"/>
              </a:rPr>
              <a:t>RAW ITEMS INGESTED</a:t>
            </a:r>
            <a:endParaRPr lang="en-US" sz="850" dirty="0"/>
          </a:p>
        </p:txBody>
      </p:sp>
      <p:sp>
        <p:nvSpPr>
          <p:cNvPr id="7" name="Text 5"/>
          <p:cNvSpPr/>
          <p:nvPr/>
        </p:nvSpPr>
        <p:spPr>
          <a:xfrm>
            <a:off x="822960" y="2084832"/>
            <a:ext cx="2286000" cy="420624"/>
          </a:xfrm>
          <a:prstGeom prst="rect">
            <a:avLst/>
          </a:prstGeom>
          <a:noFill/>
          <a:ln/>
        </p:spPr>
        <p:txBody>
          <a:bodyPr wrap="square" rtlCol="0" anchor="ctr"/>
          <a:lstStyle/>
          <a:p>
            <a:pPr indent="0" marL="0">
              <a:buNone/>
            </a:pPr>
            <a:r>
              <a:rPr lang="en-US" sz="2300" b="1" dirty="0">
                <a:solidFill>
                  <a:srgbClr val="0C1719"/>
                </a:solidFill>
                <a:latin typeface="Consolas" pitchFamily="34" charset="0"/>
                <a:ea typeface="Consolas" pitchFamily="34" charset="-122"/>
                <a:cs typeface="Consolas" pitchFamily="34" charset="-120"/>
              </a:rPr>
              <a:t>104,923</a:t>
            </a:r>
            <a:endParaRPr lang="en-US" sz="2300" dirty="0"/>
          </a:p>
        </p:txBody>
      </p:sp>
      <p:sp>
        <p:nvSpPr>
          <p:cNvPr id="8" name="Text 6"/>
          <p:cNvSpPr/>
          <p:nvPr/>
        </p:nvSpPr>
        <p:spPr>
          <a:xfrm>
            <a:off x="822960" y="2523744"/>
            <a:ext cx="2286000" cy="329184"/>
          </a:xfrm>
          <a:prstGeom prst="rect">
            <a:avLst/>
          </a:prstGeom>
          <a:noFill/>
          <a:ln/>
        </p:spPr>
        <p:txBody>
          <a:bodyPr wrap="square" rtlCol="0" anchor="ctr"/>
          <a:lstStyle/>
          <a:p>
            <a:pPr indent="0" marL="0">
              <a:buNone/>
            </a:pPr>
            <a:r>
              <a:rPr lang="en-US" sz="1000" dirty="0">
                <a:solidFill>
                  <a:srgbClr val="8A9A9C"/>
                </a:solidFill>
                <a:latin typeface="Georgia" pitchFamily="34" charset="0"/>
                <a:ea typeface="Georgia" pitchFamily="34" charset="-122"/>
                <a:cs typeface="Georgia" pitchFamily="34" charset="-120"/>
              </a:rPr>
              <a:t>12,167 in the last 7 days</a:t>
            </a:r>
            <a:endParaRPr lang="en-US" sz="1000" dirty="0"/>
          </a:p>
        </p:txBody>
      </p:sp>
      <p:sp>
        <p:nvSpPr>
          <p:cNvPr id="9" name="Shape 7"/>
          <p:cNvSpPr/>
          <p:nvPr/>
        </p:nvSpPr>
        <p:spPr>
          <a:xfrm>
            <a:off x="3410712" y="1737360"/>
            <a:ext cx="2615184" cy="1170432"/>
          </a:xfrm>
          <a:prstGeom prst="rect">
            <a:avLst/>
          </a:prstGeom>
          <a:solidFill>
            <a:srgbClr val="FFFFFF"/>
          </a:solidFill>
          <a:ln w="9525">
            <a:solidFill>
              <a:srgbClr val="DCE4E4"/>
            </a:solidFill>
            <a:prstDash val="solid"/>
          </a:ln>
        </p:spPr>
      </p:sp>
      <p:sp>
        <p:nvSpPr>
          <p:cNvPr id="10" name="Text 8"/>
          <p:cNvSpPr/>
          <p:nvPr/>
        </p:nvSpPr>
        <p:spPr>
          <a:xfrm>
            <a:off x="3575304" y="1865376"/>
            <a:ext cx="2286000" cy="219456"/>
          </a:xfrm>
          <a:prstGeom prst="rect">
            <a:avLst/>
          </a:prstGeom>
          <a:noFill/>
          <a:ln/>
        </p:spPr>
        <p:txBody>
          <a:bodyPr wrap="square" rtlCol="0" anchor="ctr"/>
          <a:lstStyle/>
          <a:p>
            <a:pPr indent="0" marL="0">
              <a:buNone/>
            </a:pPr>
            <a:r>
              <a:rPr lang="en-US" sz="850" b="1" spc="120" kern="0" dirty="0">
                <a:solidFill>
                  <a:srgbClr val="5A6B6E"/>
                </a:solidFill>
                <a:latin typeface="Segoe UI" pitchFamily="34" charset="0"/>
                <a:ea typeface="Segoe UI" pitchFamily="34" charset="-122"/>
                <a:cs typeface="Segoe UI" pitchFamily="34" charset="-120"/>
              </a:rPr>
              <a:t>KNOWLEDGE ATOMS</a:t>
            </a:r>
            <a:endParaRPr lang="en-US" sz="850" dirty="0"/>
          </a:p>
        </p:txBody>
      </p:sp>
      <p:sp>
        <p:nvSpPr>
          <p:cNvPr id="11" name="Text 9"/>
          <p:cNvSpPr/>
          <p:nvPr/>
        </p:nvSpPr>
        <p:spPr>
          <a:xfrm>
            <a:off x="3575304" y="2084832"/>
            <a:ext cx="2286000" cy="420624"/>
          </a:xfrm>
          <a:prstGeom prst="rect">
            <a:avLst/>
          </a:prstGeom>
          <a:noFill/>
          <a:ln/>
        </p:spPr>
        <p:txBody>
          <a:bodyPr wrap="square" rtlCol="0" anchor="ctr"/>
          <a:lstStyle/>
          <a:p>
            <a:pPr indent="0" marL="0">
              <a:buNone/>
            </a:pPr>
            <a:r>
              <a:rPr lang="en-US" sz="2300" b="1" dirty="0">
                <a:solidFill>
                  <a:srgbClr val="0C1719"/>
                </a:solidFill>
                <a:latin typeface="Consolas" pitchFamily="34" charset="0"/>
                <a:ea typeface="Consolas" pitchFamily="34" charset="-122"/>
                <a:cs typeface="Consolas" pitchFamily="34" charset="-120"/>
              </a:rPr>
              <a:t>148,342</a:t>
            </a:r>
            <a:endParaRPr lang="en-US" sz="2300" dirty="0"/>
          </a:p>
        </p:txBody>
      </p:sp>
      <p:sp>
        <p:nvSpPr>
          <p:cNvPr id="12" name="Text 10"/>
          <p:cNvSpPr/>
          <p:nvPr/>
        </p:nvSpPr>
        <p:spPr>
          <a:xfrm>
            <a:off x="3575304" y="2523744"/>
            <a:ext cx="2286000" cy="329184"/>
          </a:xfrm>
          <a:prstGeom prst="rect">
            <a:avLst/>
          </a:prstGeom>
          <a:noFill/>
          <a:ln/>
        </p:spPr>
        <p:txBody>
          <a:bodyPr wrap="square" rtlCol="0" anchor="ctr"/>
          <a:lstStyle/>
          <a:p>
            <a:pPr indent="0" marL="0">
              <a:buNone/>
            </a:pPr>
            <a:r>
              <a:rPr lang="en-US" sz="1000" dirty="0">
                <a:solidFill>
                  <a:srgbClr val="8A9A9C"/>
                </a:solidFill>
                <a:latin typeface="Georgia" pitchFamily="34" charset="0"/>
                <a:ea typeface="Georgia" pitchFamily="34" charset="-122"/>
                <a:cs typeface="Georgia" pitchFamily="34" charset="-120"/>
              </a:rPr>
              <a:t>Typed, scored, decaying</a:t>
            </a:r>
            <a:endParaRPr lang="en-US" sz="1000" dirty="0"/>
          </a:p>
        </p:txBody>
      </p:sp>
      <p:sp>
        <p:nvSpPr>
          <p:cNvPr id="13" name="Shape 11"/>
          <p:cNvSpPr/>
          <p:nvPr/>
        </p:nvSpPr>
        <p:spPr>
          <a:xfrm>
            <a:off x="6163056" y="1737360"/>
            <a:ext cx="2615184" cy="1170432"/>
          </a:xfrm>
          <a:prstGeom prst="rect">
            <a:avLst/>
          </a:prstGeom>
          <a:solidFill>
            <a:srgbClr val="FFFFFF"/>
          </a:solidFill>
          <a:ln w="9525">
            <a:solidFill>
              <a:srgbClr val="DCE4E4"/>
            </a:solidFill>
            <a:prstDash val="solid"/>
          </a:ln>
        </p:spPr>
      </p:sp>
      <p:sp>
        <p:nvSpPr>
          <p:cNvPr id="14" name="Text 12"/>
          <p:cNvSpPr/>
          <p:nvPr/>
        </p:nvSpPr>
        <p:spPr>
          <a:xfrm>
            <a:off x="6327648" y="1865376"/>
            <a:ext cx="2286000" cy="219456"/>
          </a:xfrm>
          <a:prstGeom prst="rect">
            <a:avLst/>
          </a:prstGeom>
          <a:noFill/>
          <a:ln/>
        </p:spPr>
        <p:txBody>
          <a:bodyPr wrap="square" rtlCol="0" anchor="ctr"/>
          <a:lstStyle/>
          <a:p>
            <a:pPr indent="0" marL="0">
              <a:buNone/>
            </a:pPr>
            <a:r>
              <a:rPr lang="en-US" sz="850" b="1" spc="120" kern="0" dirty="0">
                <a:solidFill>
                  <a:srgbClr val="5A6B6E"/>
                </a:solidFill>
                <a:latin typeface="Segoe UI" pitchFamily="34" charset="0"/>
                <a:ea typeface="Segoe UI" pitchFamily="34" charset="-122"/>
                <a:cs typeface="Segoe UI" pitchFamily="34" charset="-120"/>
              </a:rPr>
              <a:t>PREDICTIONS MADE</a:t>
            </a:r>
            <a:endParaRPr lang="en-US" sz="850" dirty="0"/>
          </a:p>
        </p:txBody>
      </p:sp>
      <p:sp>
        <p:nvSpPr>
          <p:cNvPr id="15" name="Text 13"/>
          <p:cNvSpPr/>
          <p:nvPr/>
        </p:nvSpPr>
        <p:spPr>
          <a:xfrm>
            <a:off x="6327648" y="2084832"/>
            <a:ext cx="2286000" cy="420624"/>
          </a:xfrm>
          <a:prstGeom prst="rect">
            <a:avLst/>
          </a:prstGeom>
          <a:noFill/>
          <a:ln/>
        </p:spPr>
        <p:txBody>
          <a:bodyPr wrap="square" rtlCol="0" anchor="ctr"/>
          <a:lstStyle/>
          <a:p>
            <a:pPr indent="0" marL="0">
              <a:buNone/>
            </a:pPr>
            <a:r>
              <a:rPr lang="en-US" sz="2300" b="1" dirty="0">
                <a:solidFill>
                  <a:srgbClr val="0C1719"/>
                </a:solidFill>
                <a:latin typeface="Consolas" pitchFamily="34" charset="0"/>
                <a:ea typeface="Consolas" pitchFamily="34" charset="-122"/>
                <a:cs typeface="Consolas" pitchFamily="34" charset="-120"/>
              </a:rPr>
              <a:t>505</a:t>
            </a:r>
            <a:endParaRPr lang="en-US" sz="2300" dirty="0"/>
          </a:p>
        </p:txBody>
      </p:sp>
      <p:sp>
        <p:nvSpPr>
          <p:cNvPr id="16" name="Text 14"/>
          <p:cNvSpPr/>
          <p:nvPr/>
        </p:nvSpPr>
        <p:spPr>
          <a:xfrm>
            <a:off x="6327648" y="2523744"/>
            <a:ext cx="2286000" cy="329184"/>
          </a:xfrm>
          <a:prstGeom prst="rect">
            <a:avLst/>
          </a:prstGeom>
          <a:noFill/>
          <a:ln/>
        </p:spPr>
        <p:txBody>
          <a:bodyPr wrap="square" rtlCol="0" anchor="ctr"/>
          <a:lstStyle/>
          <a:p>
            <a:pPr indent="0" marL="0">
              <a:buNone/>
            </a:pPr>
            <a:r>
              <a:rPr lang="en-US" sz="1000" dirty="0">
                <a:solidFill>
                  <a:srgbClr val="8A9A9C"/>
                </a:solidFill>
                <a:latin typeface="Georgia" pitchFamily="34" charset="0"/>
                <a:ea typeface="Georgia" pitchFamily="34" charset="-122"/>
                <a:cs typeface="Georgia" pitchFamily="34" charset="-120"/>
              </a:rPr>
              <a:t>126 resolved · 134 live</a:t>
            </a:r>
            <a:endParaRPr lang="en-US" sz="1000" dirty="0"/>
          </a:p>
        </p:txBody>
      </p:sp>
      <p:sp>
        <p:nvSpPr>
          <p:cNvPr id="17" name="Shape 15"/>
          <p:cNvSpPr/>
          <p:nvPr/>
        </p:nvSpPr>
        <p:spPr>
          <a:xfrm>
            <a:off x="8915400" y="1737360"/>
            <a:ext cx="2615184" cy="1170432"/>
          </a:xfrm>
          <a:prstGeom prst="rect">
            <a:avLst/>
          </a:prstGeom>
          <a:solidFill>
            <a:srgbClr val="FFFFFF"/>
          </a:solidFill>
          <a:ln w="9525">
            <a:solidFill>
              <a:srgbClr val="DCE4E4"/>
            </a:solidFill>
            <a:prstDash val="solid"/>
          </a:ln>
        </p:spPr>
      </p:sp>
      <p:sp>
        <p:nvSpPr>
          <p:cNvPr id="18" name="Text 16"/>
          <p:cNvSpPr/>
          <p:nvPr/>
        </p:nvSpPr>
        <p:spPr>
          <a:xfrm>
            <a:off x="9079992" y="1865376"/>
            <a:ext cx="2286000" cy="219456"/>
          </a:xfrm>
          <a:prstGeom prst="rect">
            <a:avLst/>
          </a:prstGeom>
          <a:noFill/>
          <a:ln/>
        </p:spPr>
        <p:txBody>
          <a:bodyPr wrap="square" rtlCol="0" anchor="ctr"/>
          <a:lstStyle/>
          <a:p>
            <a:pPr indent="0" marL="0">
              <a:buNone/>
            </a:pPr>
            <a:r>
              <a:rPr lang="en-US" sz="850" b="1" spc="120" kern="0" dirty="0">
                <a:solidFill>
                  <a:srgbClr val="5A6B6E"/>
                </a:solidFill>
                <a:latin typeface="Segoe UI" pitchFamily="34" charset="0"/>
                <a:ea typeface="Segoe UI" pitchFamily="34" charset="-122"/>
                <a:cs typeface="Segoe UI" pitchFamily="34" charset="-120"/>
              </a:rPr>
              <a:t>QUANT ROUTINES</a:t>
            </a:r>
            <a:endParaRPr lang="en-US" sz="850" dirty="0"/>
          </a:p>
        </p:txBody>
      </p:sp>
      <p:sp>
        <p:nvSpPr>
          <p:cNvPr id="19" name="Text 17"/>
          <p:cNvSpPr/>
          <p:nvPr/>
        </p:nvSpPr>
        <p:spPr>
          <a:xfrm>
            <a:off x="9079992" y="2084832"/>
            <a:ext cx="2286000" cy="420624"/>
          </a:xfrm>
          <a:prstGeom prst="rect">
            <a:avLst/>
          </a:prstGeom>
          <a:noFill/>
          <a:ln/>
        </p:spPr>
        <p:txBody>
          <a:bodyPr wrap="square" rtlCol="0" anchor="ctr"/>
          <a:lstStyle/>
          <a:p>
            <a:pPr indent="0" marL="0">
              <a:buNone/>
            </a:pPr>
            <a:r>
              <a:rPr lang="en-US" sz="2300" b="1" dirty="0">
                <a:solidFill>
                  <a:srgbClr val="0D7D6C"/>
                </a:solidFill>
                <a:latin typeface="Consolas" pitchFamily="34" charset="0"/>
                <a:ea typeface="Consolas" pitchFamily="34" charset="-122"/>
                <a:cs typeface="Consolas" pitchFamily="34" charset="-120"/>
              </a:rPr>
              <a:t>39</a:t>
            </a:r>
            <a:endParaRPr lang="en-US" sz="2300" dirty="0"/>
          </a:p>
        </p:txBody>
      </p:sp>
      <p:sp>
        <p:nvSpPr>
          <p:cNvPr id="20" name="Text 18"/>
          <p:cNvSpPr/>
          <p:nvPr/>
        </p:nvSpPr>
        <p:spPr>
          <a:xfrm>
            <a:off x="9079992" y="2523744"/>
            <a:ext cx="2286000" cy="329184"/>
          </a:xfrm>
          <a:prstGeom prst="rect">
            <a:avLst/>
          </a:prstGeom>
          <a:noFill/>
          <a:ln/>
        </p:spPr>
        <p:txBody>
          <a:bodyPr wrap="square" rtlCol="0" anchor="ctr"/>
          <a:lstStyle/>
          <a:p>
            <a:pPr indent="0" marL="0">
              <a:buNone/>
            </a:pPr>
            <a:r>
              <a:rPr lang="en-US" sz="1000" dirty="0">
                <a:solidFill>
                  <a:srgbClr val="8A9A9C"/>
                </a:solidFill>
                <a:latin typeface="Georgia" pitchFamily="34" charset="0"/>
                <a:ea typeface="Georgia" pitchFamily="34" charset="-122"/>
                <a:cs typeface="Georgia" pitchFamily="34" charset="-120"/>
              </a:rPr>
              <a:t>10 in the live loop</a:t>
            </a:r>
            <a:endParaRPr lang="en-US" sz="1000" dirty="0"/>
          </a:p>
        </p:txBody>
      </p:sp>
      <p:sp>
        <p:nvSpPr>
          <p:cNvPr id="21" name="Shape 19"/>
          <p:cNvSpPr/>
          <p:nvPr/>
        </p:nvSpPr>
        <p:spPr>
          <a:xfrm>
            <a:off x="658368" y="3154680"/>
            <a:ext cx="2615184" cy="1170432"/>
          </a:xfrm>
          <a:prstGeom prst="rect">
            <a:avLst/>
          </a:prstGeom>
          <a:solidFill>
            <a:srgbClr val="FFFFFF"/>
          </a:solidFill>
          <a:ln w="9525">
            <a:solidFill>
              <a:srgbClr val="DCE4E4"/>
            </a:solidFill>
            <a:prstDash val="solid"/>
          </a:ln>
        </p:spPr>
      </p:sp>
      <p:sp>
        <p:nvSpPr>
          <p:cNvPr id="22" name="Text 20"/>
          <p:cNvSpPr/>
          <p:nvPr/>
        </p:nvSpPr>
        <p:spPr>
          <a:xfrm>
            <a:off x="822960" y="3282696"/>
            <a:ext cx="2286000" cy="219456"/>
          </a:xfrm>
          <a:prstGeom prst="rect">
            <a:avLst/>
          </a:prstGeom>
          <a:noFill/>
          <a:ln/>
        </p:spPr>
        <p:txBody>
          <a:bodyPr wrap="square" rtlCol="0" anchor="ctr"/>
          <a:lstStyle/>
          <a:p>
            <a:pPr indent="0" marL="0">
              <a:buNone/>
            </a:pPr>
            <a:r>
              <a:rPr lang="en-US" sz="850" b="1" spc="120" kern="0" dirty="0">
                <a:solidFill>
                  <a:srgbClr val="5A6B6E"/>
                </a:solidFill>
                <a:latin typeface="Segoe UI" pitchFamily="34" charset="0"/>
                <a:ea typeface="Segoe UI" pitchFamily="34" charset="-122"/>
                <a:cs typeface="Segoe UI" pitchFamily="34" charset="-120"/>
              </a:rPr>
              <a:t>INSTRUMENTS</a:t>
            </a:r>
            <a:endParaRPr lang="en-US" sz="850" dirty="0"/>
          </a:p>
        </p:txBody>
      </p:sp>
      <p:sp>
        <p:nvSpPr>
          <p:cNvPr id="23" name="Text 21"/>
          <p:cNvSpPr/>
          <p:nvPr/>
        </p:nvSpPr>
        <p:spPr>
          <a:xfrm>
            <a:off x="822960" y="3502152"/>
            <a:ext cx="2286000" cy="420624"/>
          </a:xfrm>
          <a:prstGeom prst="rect">
            <a:avLst/>
          </a:prstGeom>
          <a:noFill/>
          <a:ln/>
        </p:spPr>
        <p:txBody>
          <a:bodyPr wrap="square" rtlCol="0" anchor="ctr"/>
          <a:lstStyle/>
          <a:p>
            <a:pPr indent="0" marL="0">
              <a:buNone/>
            </a:pPr>
            <a:r>
              <a:rPr lang="en-US" sz="2300" b="1" dirty="0">
                <a:solidFill>
                  <a:srgbClr val="0C1719"/>
                </a:solidFill>
                <a:latin typeface="Consolas" pitchFamily="34" charset="0"/>
                <a:ea typeface="Consolas" pitchFamily="34" charset="-122"/>
                <a:cs typeface="Consolas" pitchFamily="34" charset="-120"/>
              </a:rPr>
              <a:t>147</a:t>
            </a:r>
            <a:endParaRPr lang="en-US" sz="2300" dirty="0"/>
          </a:p>
        </p:txBody>
      </p:sp>
      <p:sp>
        <p:nvSpPr>
          <p:cNvPr id="24" name="Text 22"/>
          <p:cNvSpPr/>
          <p:nvPr/>
        </p:nvSpPr>
        <p:spPr>
          <a:xfrm>
            <a:off x="822960" y="3941064"/>
            <a:ext cx="2286000" cy="329184"/>
          </a:xfrm>
          <a:prstGeom prst="rect">
            <a:avLst/>
          </a:prstGeom>
          <a:noFill/>
          <a:ln/>
        </p:spPr>
        <p:txBody>
          <a:bodyPr wrap="square" rtlCol="0" anchor="ctr"/>
          <a:lstStyle/>
          <a:p>
            <a:pPr indent="0" marL="0">
              <a:buNone/>
            </a:pPr>
            <a:r>
              <a:rPr lang="en-US" sz="1000" dirty="0">
                <a:solidFill>
                  <a:srgbClr val="8A9A9C"/>
                </a:solidFill>
                <a:latin typeface="Georgia" pitchFamily="34" charset="0"/>
                <a:ea typeface="Georgia" pitchFamily="34" charset="-122"/>
                <a:cs typeface="Georgia" pitchFamily="34" charset="-120"/>
              </a:rPr>
              <a:t>One normalised price spine</a:t>
            </a:r>
            <a:endParaRPr lang="en-US" sz="1000" dirty="0"/>
          </a:p>
        </p:txBody>
      </p:sp>
      <p:sp>
        <p:nvSpPr>
          <p:cNvPr id="25" name="Shape 23"/>
          <p:cNvSpPr/>
          <p:nvPr/>
        </p:nvSpPr>
        <p:spPr>
          <a:xfrm>
            <a:off x="3410712" y="3154680"/>
            <a:ext cx="2615184" cy="1170432"/>
          </a:xfrm>
          <a:prstGeom prst="rect">
            <a:avLst/>
          </a:prstGeom>
          <a:solidFill>
            <a:srgbClr val="FFFFFF"/>
          </a:solidFill>
          <a:ln w="9525">
            <a:solidFill>
              <a:srgbClr val="DCE4E4"/>
            </a:solidFill>
            <a:prstDash val="solid"/>
          </a:ln>
        </p:spPr>
      </p:sp>
      <p:sp>
        <p:nvSpPr>
          <p:cNvPr id="26" name="Text 24"/>
          <p:cNvSpPr/>
          <p:nvPr/>
        </p:nvSpPr>
        <p:spPr>
          <a:xfrm>
            <a:off x="3575304" y="3282696"/>
            <a:ext cx="2286000" cy="219456"/>
          </a:xfrm>
          <a:prstGeom prst="rect">
            <a:avLst/>
          </a:prstGeom>
          <a:noFill/>
          <a:ln/>
        </p:spPr>
        <p:txBody>
          <a:bodyPr wrap="square" rtlCol="0" anchor="ctr"/>
          <a:lstStyle/>
          <a:p>
            <a:pPr indent="0" marL="0">
              <a:buNone/>
            </a:pPr>
            <a:r>
              <a:rPr lang="en-US" sz="850" b="1" spc="120" kern="0" dirty="0">
                <a:solidFill>
                  <a:srgbClr val="5A6B6E"/>
                </a:solidFill>
                <a:latin typeface="Segoe UI" pitchFamily="34" charset="0"/>
                <a:ea typeface="Segoe UI" pitchFamily="34" charset="-122"/>
                <a:cs typeface="Segoe UI" pitchFamily="34" charset="-120"/>
              </a:rPr>
              <a:t>MODEL PORTFOLIOS</a:t>
            </a:r>
            <a:endParaRPr lang="en-US" sz="850" dirty="0"/>
          </a:p>
        </p:txBody>
      </p:sp>
      <p:sp>
        <p:nvSpPr>
          <p:cNvPr id="27" name="Text 25"/>
          <p:cNvSpPr/>
          <p:nvPr/>
        </p:nvSpPr>
        <p:spPr>
          <a:xfrm>
            <a:off x="3575304" y="3502152"/>
            <a:ext cx="2286000" cy="420624"/>
          </a:xfrm>
          <a:prstGeom prst="rect">
            <a:avLst/>
          </a:prstGeom>
          <a:noFill/>
          <a:ln/>
        </p:spPr>
        <p:txBody>
          <a:bodyPr wrap="square" rtlCol="0" anchor="ctr"/>
          <a:lstStyle/>
          <a:p>
            <a:pPr indent="0" marL="0">
              <a:buNone/>
            </a:pPr>
            <a:r>
              <a:rPr lang="en-US" sz="2300" b="1" dirty="0">
                <a:solidFill>
                  <a:srgbClr val="0C1719"/>
                </a:solidFill>
                <a:latin typeface="Consolas" pitchFamily="34" charset="0"/>
                <a:ea typeface="Consolas" pitchFamily="34" charset="-122"/>
                <a:cs typeface="Consolas" pitchFamily="34" charset="-120"/>
              </a:rPr>
              <a:t>6</a:t>
            </a:r>
            <a:endParaRPr lang="en-US" sz="2300" dirty="0"/>
          </a:p>
        </p:txBody>
      </p:sp>
      <p:sp>
        <p:nvSpPr>
          <p:cNvPr id="28" name="Text 26"/>
          <p:cNvSpPr/>
          <p:nvPr/>
        </p:nvSpPr>
        <p:spPr>
          <a:xfrm>
            <a:off x="3575304" y="3941064"/>
            <a:ext cx="2286000" cy="329184"/>
          </a:xfrm>
          <a:prstGeom prst="rect">
            <a:avLst/>
          </a:prstGeom>
          <a:noFill/>
          <a:ln/>
        </p:spPr>
        <p:txBody>
          <a:bodyPr wrap="square" rtlCol="0" anchor="ctr"/>
          <a:lstStyle/>
          <a:p>
            <a:pPr indent="0" marL="0">
              <a:buNone/>
            </a:pPr>
            <a:r>
              <a:rPr lang="en-US" sz="1000" dirty="0">
                <a:solidFill>
                  <a:srgbClr val="8A9A9C"/>
                </a:solidFill>
                <a:latin typeface="Georgia" pitchFamily="34" charset="0"/>
                <a:ea typeface="Georgia" pitchFamily="34" charset="-122"/>
                <a:cs typeface="Georgia" pitchFamily="34" charset="-120"/>
              </a:rPr>
              <a:t>77 positions, marked nightly</a:t>
            </a:r>
            <a:endParaRPr lang="en-US" sz="1000" dirty="0"/>
          </a:p>
        </p:txBody>
      </p:sp>
      <p:sp>
        <p:nvSpPr>
          <p:cNvPr id="29" name="Shape 27"/>
          <p:cNvSpPr/>
          <p:nvPr/>
        </p:nvSpPr>
        <p:spPr>
          <a:xfrm>
            <a:off x="6163056" y="3154680"/>
            <a:ext cx="2615184" cy="1170432"/>
          </a:xfrm>
          <a:prstGeom prst="rect">
            <a:avLst/>
          </a:prstGeom>
          <a:solidFill>
            <a:srgbClr val="FFFFFF"/>
          </a:solidFill>
          <a:ln w="9525">
            <a:solidFill>
              <a:srgbClr val="DCE4E4"/>
            </a:solidFill>
            <a:prstDash val="solid"/>
          </a:ln>
        </p:spPr>
      </p:sp>
      <p:sp>
        <p:nvSpPr>
          <p:cNvPr id="30" name="Text 28"/>
          <p:cNvSpPr/>
          <p:nvPr/>
        </p:nvSpPr>
        <p:spPr>
          <a:xfrm>
            <a:off x="6327648" y="3282696"/>
            <a:ext cx="2286000" cy="219456"/>
          </a:xfrm>
          <a:prstGeom prst="rect">
            <a:avLst/>
          </a:prstGeom>
          <a:noFill/>
          <a:ln/>
        </p:spPr>
        <p:txBody>
          <a:bodyPr wrap="square" rtlCol="0" anchor="ctr"/>
          <a:lstStyle/>
          <a:p>
            <a:pPr indent="0" marL="0">
              <a:buNone/>
            </a:pPr>
            <a:r>
              <a:rPr lang="en-US" sz="850" b="1" spc="120" kern="0" dirty="0">
                <a:solidFill>
                  <a:srgbClr val="5A6B6E"/>
                </a:solidFill>
                <a:latin typeface="Segoe UI" pitchFamily="34" charset="0"/>
                <a:ea typeface="Segoe UI" pitchFamily="34" charset="-122"/>
                <a:cs typeface="Segoe UI" pitchFamily="34" charset="-120"/>
              </a:rPr>
              <a:t>SCHEDULED JOBS</a:t>
            </a:r>
            <a:endParaRPr lang="en-US" sz="850" dirty="0"/>
          </a:p>
        </p:txBody>
      </p:sp>
      <p:sp>
        <p:nvSpPr>
          <p:cNvPr id="31" name="Text 29"/>
          <p:cNvSpPr/>
          <p:nvPr/>
        </p:nvSpPr>
        <p:spPr>
          <a:xfrm>
            <a:off x="6327648" y="3502152"/>
            <a:ext cx="2286000" cy="420624"/>
          </a:xfrm>
          <a:prstGeom prst="rect">
            <a:avLst/>
          </a:prstGeom>
          <a:noFill/>
          <a:ln/>
        </p:spPr>
        <p:txBody>
          <a:bodyPr wrap="square" rtlCol="0" anchor="ctr"/>
          <a:lstStyle/>
          <a:p>
            <a:pPr indent="0" marL="0">
              <a:buNone/>
            </a:pPr>
            <a:r>
              <a:rPr lang="en-US" sz="2300" b="1" dirty="0">
                <a:solidFill>
                  <a:srgbClr val="0C1719"/>
                </a:solidFill>
                <a:latin typeface="Consolas" pitchFamily="34" charset="0"/>
                <a:ea typeface="Consolas" pitchFamily="34" charset="-122"/>
                <a:cs typeface="Consolas" pitchFamily="34" charset="-120"/>
              </a:rPr>
              <a:t>30</a:t>
            </a:r>
            <a:endParaRPr lang="en-US" sz="2300" dirty="0"/>
          </a:p>
        </p:txBody>
      </p:sp>
      <p:sp>
        <p:nvSpPr>
          <p:cNvPr id="32" name="Text 30"/>
          <p:cNvSpPr/>
          <p:nvPr/>
        </p:nvSpPr>
        <p:spPr>
          <a:xfrm>
            <a:off x="6327648" y="3941064"/>
            <a:ext cx="2286000" cy="329184"/>
          </a:xfrm>
          <a:prstGeom prst="rect">
            <a:avLst/>
          </a:prstGeom>
          <a:noFill/>
          <a:ln/>
        </p:spPr>
        <p:txBody>
          <a:bodyPr wrap="square" rtlCol="0" anchor="ctr"/>
          <a:lstStyle/>
          <a:p>
            <a:pPr indent="0" marL="0">
              <a:buNone/>
            </a:pPr>
            <a:r>
              <a:rPr lang="en-US" sz="1000" dirty="0">
                <a:solidFill>
                  <a:srgbClr val="8A9A9C"/>
                </a:solidFill>
                <a:latin typeface="Georgia" pitchFamily="34" charset="0"/>
                <a:ea typeface="Georgia" pitchFamily="34" charset="-122"/>
                <a:cs typeface="Georgia" pitchFamily="34" charset="-120"/>
              </a:rPr>
              <a:t>Free and paid tiers separated</a:t>
            </a:r>
            <a:endParaRPr lang="en-US" sz="1000" dirty="0"/>
          </a:p>
        </p:txBody>
      </p:sp>
      <p:sp>
        <p:nvSpPr>
          <p:cNvPr id="33" name="Shape 31"/>
          <p:cNvSpPr/>
          <p:nvPr/>
        </p:nvSpPr>
        <p:spPr>
          <a:xfrm>
            <a:off x="8915400" y="3154680"/>
            <a:ext cx="2615184" cy="1170432"/>
          </a:xfrm>
          <a:prstGeom prst="rect">
            <a:avLst/>
          </a:prstGeom>
          <a:solidFill>
            <a:srgbClr val="FFFFFF"/>
          </a:solidFill>
          <a:ln w="9525">
            <a:solidFill>
              <a:srgbClr val="DCE4E4"/>
            </a:solidFill>
            <a:prstDash val="solid"/>
          </a:ln>
        </p:spPr>
      </p:sp>
      <p:sp>
        <p:nvSpPr>
          <p:cNvPr id="34" name="Text 32"/>
          <p:cNvSpPr/>
          <p:nvPr/>
        </p:nvSpPr>
        <p:spPr>
          <a:xfrm>
            <a:off x="9079992" y="3282696"/>
            <a:ext cx="2286000" cy="219456"/>
          </a:xfrm>
          <a:prstGeom prst="rect">
            <a:avLst/>
          </a:prstGeom>
          <a:noFill/>
          <a:ln/>
        </p:spPr>
        <p:txBody>
          <a:bodyPr wrap="square" rtlCol="0" anchor="ctr"/>
          <a:lstStyle/>
          <a:p>
            <a:pPr indent="0" marL="0">
              <a:buNone/>
            </a:pPr>
            <a:r>
              <a:rPr lang="en-US" sz="850" b="1" spc="120" kern="0" dirty="0">
                <a:solidFill>
                  <a:srgbClr val="5A6B6E"/>
                </a:solidFill>
                <a:latin typeface="Segoe UI" pitchFamily="34" charset="0"/>
                <a:ea typeface="Segoe UI" pitchFamily="34" charset="-122"/>
                <a:cs typeface="Segoe UI" pitchFamily="34" charset="-120"/>
              </a:rPr>
              <a:t>CALIBRATION ERROR</a:t>
            </a:r>
            <a:endParaRPr lang="en-US" sz="850" dirty="0"/>
          </a:p>
        </p:txBody>
      </p:sp>
      <p:sp>
        <p:nvSpPr>
          <p:cNvPr id="35" name="Text 33"/>
          <p:cNvSpPr/>
          <p:nvPr/>
        </p:nvSpPr>
        <p:spPr>
          <a:xfrm>
            <a:off x="9079992" y="3502152"/>
            <a:ext cx="2286000" cy="420624"/>
          </a:xfrm>
          <a:prstGeom prst="rect">
            <a:avLst/>
          </a:prstGeom>
          <a:noFill/>
          <a:ln/>
        </p:spPr>
        <p:txBody>
          <a:bodyPr wrap="square" rtlCol="0" anchor="ctr"/>
          <a:lstStyle/>
          <a:p>
            <a:pPr indent="0" marL="0">
              <a:buNone/>
            </a:pPr>
            <a:r>
              <a:rPr lang="en-US" sz="2300" b="1" dirty="0">
                <a:solidFill>
                  <a:srgbClr val="0D7D6C"/>
                </a:solidFill>
                <a:latin typeface="Consolas" pitchFamily="34" charset="0"/>
                <a:ea typeface="Consolas" pitchFamily="34" charset="-122"/>
                <a:cs typeface="Consolas" pitchFamily="34" charset="-120"/>
              </a:rPr>
              <a:t>0.074</a:t>
            </a:r>
            <a:endParaRPr lang="en-US" sz="2300" dirty="0"/>
          </a:p>
        </p:txBody>
      </p:sp>
      <p:sp>
        <p:nvSpPr>
          <p:cNvPr id="36" name="Text 34"/>
          <p:cNvSpPr/>
          <p:nvPr/>
        </p:nvSpPr>
        <p:spPr>
          <a:xfrm>
            <a:off x="9079992" y="3941064"/>
            <a:ext cx="2286000" cy="329184"/>
          </a:xfrm>
          <a:prstGeom prst="rect">
            <a:avLst/>
          </a:prstGeom>
          <a:noFill/>
          <a:ln/>
        </p:spPr>
        <p:txBody>
          <a:bodyPr wrap="square" rtlCol="0" anchor="ctr"/>
          <a:lstStyle/>
          <a:p>
            <a:pPr indent="0" marL="0">
              <a:buNone/>
            </a:pPr>
            <a:r>
              <a:rPr lang="en-US" sz="1000" dirty="0">
                <a:solidFill>
                  <a:srgbClr val="8A9A9C"/>
                </a:solidFill>
                <a:latin typeface="Georgia" pitchFamily="34" charset="0"/>
                <a:ea typeface="Georgia" pitchFamily="34" charset="-122"/>
                <a:cs typeface="Georgia" pitchFamily="34" charset="-120"/>
              </a:rPr>
              <a:t>Stated 0.547 vs actual 0.474</a:t>
            </a:r>
            <a:endParaRPr lang="en-US" sz="1000" dirty="0"/>
          </a:p>
        </p:txBody>
      </p:sp>
      <p:sp>
        <p:nvSpPr>
          <p:cNvPr id="37" name="Text 35"/>
          <p:cNvSpPr/>
          <p:nvPr/>
        </p:nvSpPr>
        <p:spPr>
          <a:xfrm>
            <a:off x="658368" y="4617720"/>
            <a:ext cx="9144000" cy="274320"/>
          </a:xfrm>
          <a:prstGeom prst="rect">
            <a:avLst/>
          </a:prstGeom>
          <a:noFill/>
          <a:ln/>
        </p:spPr>
        <p:txBody>
          <a:bodyPr wrap="square" rtlCol="0" anchor="ctr"/>
          <a:lstStyle/>
          <a:p>
            <a:pPr indent="0" marL="0">
              <a:buNone/>
            </a:pPr>
            <a:r>
              <a:rPr lang="en-US" sz="1100" i="1" dirty="0">
                <a:solidFill>
                  <a:srgbClr val="8A9A9C"/>
                </a:solidFill>
                <a:latin typeface="Georgia" pitchFamily="34" charset="0"/>
                <a:ea typeface="Georgia" pitchFamily="34" charset="-122"/>
                <a:cs typeface="Georgia" pitchFamily="34" charset="-120"/>
              </a:rPr>
              <a:t>Figures read live from the production database on 20 August 2026.</a:t>
            </a:r>
            <a:endParaRPr lang="en-US" sz="1100" dirty="0"/>
          </a:p>
        </p:txBody>
      </p:sp>
      <p:sp>
        <p:nvSpPr>
          <p:cNvPr id="38" name="Text 36"/>
          <p:cNvSpPr/>
          <p:nvPr/>
        </p:nvSpPr>
        <p:spPr>
          <a:xfrm>
            <a:off x="658368" y="6382512"/>
            <a:ext cx="5486400" cy="237744"/>
          </a:xfrm>
          <a:prstGeom prst="rect">
            <a:avLst/>
          </a:prstGeom>
          <a:noFill/>
          <a:ln/>
        </p:spPr>
        <p:txBody>
          <a:bodyPr wrap="square" rtlCol="0" anchor="ctr"/>
          <a:lstStyle/>
          <a:p>
            <a:pPr indent="0" marL="0">
              <a:buNone/>
            </a:pPr>
            <a:r>
              <a:rPr lang="en-US" sz="900" dirty="0">
                <a:solidFill>
                  <a:srgbClr val="8A9A9C"/>
                </a:solidFill>
                <a:latin typeface="Segoe UI" pitchFamily="34" charset="0"/>
                <a:ea typeface="Segoe UI" pitchFamily="34" charset="-122"/>
                <a:cs typeface="Segoe UI" pitchFamily="34" charset="-120"/>
              </a:rPr>
              <a:t>ANTON by openEXPERT — Markets pillar</a:t>
            </a:r>
            <a:endParaRPr lang="en-US" sz="900" dirty="0"/>
          </a:p>
        </p:txBody>
      </p:sp>
      <p:sp>
        <p:nvSpPr>
          <p:cNvPr id="39" name="Text 37"/>
          <p:cNvSpPr/>
          <p:nvPr/>
        </p:nvSpPr>
        <p:spPr>
          <a:xfrm>
            <a:off x="10981944" y="6382512"/>
            <a:ext cx="548640" cy="237744"/>
          </a:xfrm>
          <a:prstGeom prst="rect">
            <a:avLst/>
          </a:prstGeom>
          <a:noFill/>
          <a:ln/>
        </p:spPr>
        <p:txBody>
          <a:bodyPr wrap="square" rtlCol="0" anchor="ctr"/>
          <a:lstStyle/>
          <a:p>
            <a:pPr algn="r" indent="0" marL="0">
              <a:buNone/>
            </a:pPr>
            <a:r>
              <a:rPr lang="en-US" sz="900" dirty="0">
                <a:solidFill>
                  <a:srgbClr val="8A9A9C"/>
                </a:solidFill>
                <a:latin typeface="Consolas" pitchFamily="34" charset="0"/>
                <a:ea typeface="Consolas" pitchFamily="34" charset="-122"/>
                <a:cs typeface="Consola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B"/>
        </a:solidFill>
      </p:bgPr>
    </p:bg>
    <p:spTree>
      <p:nvGrpSpPr>
        <p:cNvPr id="1" name=""/>
        <p:cNvGrpSpPr/>
        <p:nvPr/>
      </p:nvGrpSpPr>
      <p:grpSpPr>
        <a:xfrm>
          <a:off x="0" y="0"/>
          <a:ext cx="0" cy="0"/>
          <a:chOff x="0" y="0"/>
          <a:chExt cx="0" cy="0"/>
        </a:xfrm>
      </p:grpSpPr>
      <p:sp>
        <p:nvSpPr>
          <p:cNvPr id="2" name="Text 0"/>
          <p:cNvSpPr/>
          <p:nvPr/>
        </p:nvSpPr>
        <p:spPr>
          <a:xfrm>
            <a:off x="658368" y="384048"/>
            <a:ext cx="10872216" cy="237744"/>
          </a:xfrm>
          <a:prstGeom prst="rect">
            <a:avLst/>
          </a:prstGeom>
          <a:noFill/>
          <a:ln/>
        </p:spPr>
        <p:txBody>
          <a:bodyPr wrap="square" rtlCol="0" anchor="ctr"/>
          <a:lstStyle/>
          <a:p>
            <a:pPr indent="0" marL="0">
              <a:buNone/>
            </a:pPr>
            <a:r>
              <a:rPr lang="en-US" sz="1000" b="1" spc="160" kern="0" dirty="0">
                <a:solidFill>
                  <a:srgbClr val="5A6B6E"/>
                </a:solidFill>
                <a:latin typeface="Segoe UI" pitchFamily="34" charset="0"/>
                <a:ea typeface="Segoe UI" pitchFamily="34" charset="-122"/>
                <a:cs typeface="Segoe UI" pitchFamily="34" charset="-120"/>
              </a:rPr>
              <a:t>HOW IT RUNS</a:t>
            </a:r>
            <a:endParaRPr lang="en-US" sz="1000" dirty="0"/>
          </a:p>
        </p:txBody>
      </p:sp>
      <p:sp>
        <p:nvSpPr>
          <p:cNvPr id="3" name="Text 1"/>
          <p:cNvSpPr/>
          <p:nvPr/>
        </p:nvSpPr>
        <p:spPr>
          <a:xfrm>
            <a:off x="658368" y="658368"/>
            <a:ext cx="10872216" cy="658368"/>
          </a:xfrm>
          <a:prstGeom prst="rect">
            <a:avLst/>
          </a:prstGeom>
          <a:noFill/>
          <a:ln/>
        </p:spPr>
        <p:txBody>
          <a:bodyPr wrap="square" rtlCol="0" anchor="ctr"/>
          <a:lstStyle/>
          <a:p>
            <a:pPr indent="0" marL="0">
              <a:buNone/>
            </a:pPr>
            <a:r>
              <a:rPr lang="en-US" sz="2700" b="1" dirty="0">
                <a:solidFill>
                  <a:srgbClr val="0C1719"/>
                </a:solidFill>
                <a:latin typeface="Segoe UI" pitchFamily="34" charset="0"/>
                <a:ea typeface="Segoe UI" pitchFamily="34" charset="-122"/>
                <a:cs typeface="Segoe UI" pitchFamily="34" charset="-120"/>
              </a:rPr>
              <a:t>Six stages, each with measured throughput</a:t>
            </a:r>
            <a:endParaRPr lang="en-US" sz="2700" dirty="0"/>
          </a:p>
        </p:txBody>
      </p:sp>
      <p:sp>
        <p:nvSpPr>
          <p:cNvPr id="4" name="Shape 2"/>
          <p:cNvSpPr/>
          <p:nvPr/>
        </p:nvSpPr>
        <p:spPr>
          <a:xfrm>
            <a:off x="658368" y="1389888"/>
            <a:ext cx="10872216" cy="10973"/>
          </a:xfrm>
          <a:prstGeom prst="rect">
            <a:avLst/>
          </a:prstGeom>
          <a:solidFill>
            <a:srgbClr val="DCE4E4"/>
          </a:solidFill>
          <a:ln w="12700">
            <a:solidFill>
              <a:srgbClr val="333333"/>
            </a:solidFill>
            <a:prstDash val="solid"/>
          </a:ln>
        </p:spPr>
      </p:sp>
      <p:sp>
        <p:nvSpPr>
          <p:cNvPr id="5" name="Text 3"/>
          <p:cNvSpPr/>
          <p:nvPr/>
        </p:nvSpPr>
        <p:spPr>
          <a:xfrm>
            <a:off x="658368" y="1682496"/>
            <a:ext cx="548640" cy="274320"/>
          </a:xfrm>
          <a:prstGeom prst="rect">
            <a:avLst/>
          </a:prstGeom>
          <a:noFill/>
          <a:ln/>
        </p:spPr>
        <p:txBody>
          <a:bodyPr wrap="square" rtlCol="0" anchor="ctr"/>
          <a:lstStyle/>
          <a:p>
            <a:pPr indent="0" marL="0">
              <a:buNone/>
            </a:pPr>
            <a:r>
              <a:rPr lang="en-US" sz="1200" b="1" dirty="0">
                <a:solidFill>
                  <a:srgbClr val="0D7D6C"/>
                </a:solidFill>
                <a:latin typeface="Consolas" pitchFamily="34" charset="0"/>
                <a:ea typeface="Consolas" pitchFamily="34" charset="-122"/>
                <a:cs typeface="Consolas" pitchFamily="34" charset="-120"/>
              </a:rPr>
              <a:t>01</a:t>
            </a:r>
            <a:endParaRPr lang="en-US" sz="1200" dirty="0"/>
          </a:p>
        </p:txBody>
      </p:sp>
      <p:sp>
        <p:nvSpPr>
          <p:cNvPr id="6" name="Text 4"/>
          <p:cNvSpPr/>
          <p:nvPr/>
        </p:nvSpPr>
        <p:spPr>
          <a:xfrm>
            <a:off x="1280160" y="1645920"/>
            <a:ext cx="1645920" cy="292608"/>
          </a:xfrm>
          <a:prstGeom prst="rect">
            <a:avLst/>
          </a:prstGeom>
          <a:noFill/>
          <a:ln/>
        </p:spPr>
        <p:txBody>
          <a:bodyPr wrap="square" rtlCol="0" anchor="ctr"/>
          <a:lstStyle/>
          <a:p>
            <a:pPr indent="0" marL="0">
              <a:buNone/>
            </a:pPr>
            <a:r>
              <a:rPr lang="en-US" sz="1500" b="1" dirty="0">
                <a:solidFill>
                  <a:srgbClr val="0C1719"/>
                </a:solidFill>
                <a:latin typeface="Segoe UI" pitchFamily="34" charset="0"/>
                <a:ea typeface="Segoe UI" pitchFamily="34" charset="-122"/>
                <a:cs typeface="Segoe UI" pitchFamily="34" charset="-120"/>
              </a:rPr>
              <a:t>Ingest</a:t>
            </a:r>
            <a:endParaRPr lang="en-US" sz="1500" dirty="0"/>
          </a:p>
        </p:txBody>
      </p:sp>
      <p:sp>
        <p:nvSpPr>
          <p:cNvPr id="7" name="Text 5"/>
          <p:cNvSpPr/>
          <p:nvPr/>
        </p:nvSpPr>
        <p:spPr>
          <a:xfrm>
            <a:off x="2990088" y="1664208"/>
            <a:ext cx="6309360" cy="548640"/>
          </a:xfrm>
          <a:prstGeom prst="rect">
            <a:avLst/>
          </a:prstGeom>
          <a:noFill/>
          <a:ln/>
        </p:spPr>
        <p:txBody>
          <a:bodyPr wrap="square" rtlCol="0" anchor="ctr"/>
          <a:lstStyle/>
          <a:p>
            <a:pPr indent="0" marL="0">
              <a:lnSpc>
                <a:spcPct val="120000"/>
              </a:lnSpc>
              <a:buNone/>
            </a:pPr>
            <a:r>
              <a:rPr lang="en-US" sz="1150" dirty="0">
                <a:solidFill>
                  <a:srgbClr val="5A6B6E"/>
                </a:solidFill>
                <a:latin typeface="Georgia" pitchFamily="34" charset="0"/>
                <a:ea typeface="Georgia" pitchFamily="34" charset="-122"/>
                <a:cs typeface="Georgia" pitchFamily="34" charset="-120"/>
              </a:rPr>
              <a:t>23 sources across three providers. Prices normalised per symbol per session.</a:t>
            </a:r>
            <a:endParaRPr lang="en-US" sz="1150" dirty="0"/>
          </a:p>
        </p:txBody>
      </p:sp>
      <p:sp>
        <p:nvSpPr>
          <p:cNvPr id="8" name="Text 6"/>
          <p:cNvSpPr/>
          <p:nvPr/>
        </p:nvSpPr>
        <p:spPr>
          <a:xfrm>
            <a:off x="9427464" y="1682496"/>
            <a:ext cx="2103120" cy="274320"/>
          </a:xfrm>
          <a:prstGeom prst="rect">
            <a:avLst/>
          </a:prstGeom>
          <a:noFill/>
          <a:ln/>
        </p:spPr>
        <p:txBody>
          <a:bodyPr wrap="square" rtlCol="0" anchor="ctr"/>
          <a:lstStyle/>
          <a:p>
            <a:pPr algn="r" indent="0" marL="0">
              <a:buNone/>
            </a:pPr>
            <a:r>
              <a:rPr lang="en-US" sz="1150" dirty="0">
                <a:solidFill>
                  <a:srgbClr val="0C1719"/>
                </a:solidFill>
                <a:latin typeface="Consolas" pitchFamily="34" charset="0"/>
                <a:ea typeface="Consolas" pitchFamily="34" charset="-122"/>
                <a:cs typeface="Consolas" pitchFamily="34" charset="-120"/>
              </a:rPr>
              <a:t>12,167 items / 7d</a:t>
            </a:r>
            <a:endParaRPr lang="en-US" sz="1150" dirty="0"/>
          </a:p>
        </p:txBody>
      </p:sp>
      <p:sp>
        <p:nvSpPr>
          <p:cNvPr id="9" name="Shape 7"/>
          <p:cNvSpPr/>
          <p:nvPr/>
        </p:nvSpPr>
        <p:spPr>
          <a:xfrm>
            <a:off x="658368" y="2295144"/>
            <a:ext cx="10872216" cy="7315"/>
          </a:xfrm>
          <a:prstGeom prst="rect">
            <a:avLst/>
          </a:prstGeom>
          <a:solidFill>
            <a:srgbClr val="DCE4E4"/>
          </a:solidFill>
          <a:ln w="12700">
            <a:solidFill>
              <a:srgbClr val="333333"/>
            </a:solidFill>
            <a:prstDash val="solid"/>
          </a:ln>
        </p:spPr>
      </p:sp>
      <p:sp>
        <p:nvSpPr>
          <p:cNvPr id="10" name="Text 8"/>
          <p:cNvSpPr/>
          <p:nvPr/>
        </p:nvSpPr>
        <p:spPr>
          <a:xfrm>
            <a:off x="658368" y="2404872"/>
            <a:ext cx="548640" cy="274320"/>
          </a:xfrm>
          <a:prstGeom prst="rect">
            <a:avLst/>
          </a:prstGeom>
          <a:noFill/>
          <a:ln/>
        </p:spPr>
        <p:txBody>
          <a:bodyPr wrap="square" rtlCol="0" anchor="ctr"/>
          <a:lstStyle/>
          <a:p>
            <a:pPr indent="0" marL="0">
              <a:buNone/>
            </a:pPr>
            <a:r>
              <a:rPr lang="en-US" sz="1200" b="1" dirty="0">
                <a:solidFill>
                  <a:srgbClr val="0D7D6C"/>
                </a:solidFill>
                <a:latin typeface="Consolas" pitchFamily="34" charset="0"/>
                <a:ea typeface="Consolas" pitchFamily="34" charset="-122"/>
                <a:cs typeface="Consolas" pitchFamily="34" charset="-120"/>
              </a:rPr>
              <a:t>02</a:t>
            </a:r>
            <a:endParaRPr lang="en-US" sz="1200" dirty="0"/>
          </a:p>
        </p:txBody>
      </p:sp>
      <p:sp>
        <p:nvSpPr>
          <p:cNvPr id="11" name="Text 9"/>
          <p:cNvSpPr/>
          <p:nvPr/>
        </p:nvSpPr>
        <p:spPr>
          <a:xfrm>
            <a:off x="1280160" y="2368296"/>
            <a:ext cx="1645920" cy="292608"/>
          </a:xfrm>
          <a:prstGeom prst="rect">
            <a:avLst/>
          </a:prstGeom>
          <a:noFill/>
          <a:ln/>
        </p:spPr>
        <p:txBody>
          <a:bodyPr wrap="square" rtlCol="0" anchor="ctr"/>
          <a:lstStyle/>
          <a:p>
            <a:pPr indent="0" marL="0">
              <a:buNone/>
            </a:pPr>
            <a:r>
              <a:rPr lang="en-US" sz="1500" b="1" dirty="0">
                <a:solidFill>
                  <a:srgbClr val="0C1719"/>
                </a:solidFill>
                <a:latin typeface="Segoe UI" pitchFamily="34" charset="0"/>
                <a:ea typeface="Segoe UI" pitchFamily="34" charset="-122"/>
                <a:cs typeface="Segoe UI" pitchFamily="34" charset="-120"/>
              </a:rPr>
              <a:t>Extract</a:t>
            </a:r>
            <a:endParaRPr lang="en-US" sz="1500" dirty="0"/>
          </a:p>
        </p:txBody>
      </p:sp>
      <p:sp>
        <p:nvSpPr>
          <p:cNvPr id="12" name="Text 10"/>
          <p:cNvSpPr/>
          <p:nvPr/>
        </p:nvSpPr>
        <p:spPr>
          <a:xfrm>
            <a:off x="2990088" y="2386584"/>
            <a:ext cx="6309360" cy="548640"/>
          </a:xfrm>
          <a:prstGeom prst="rect">
            <a:avLst/>
          </a:prstGeom>
          <a:noFill/>
          <a:ln/>
        </p:spPr>
        <p:txBody>
          <a:bodyPr wrap="square" rtlCol="0" anchor="ctr"/>
          <a:lstStyle/>
          <a:p>
            <a:pPr indent="0" marL="0">
              <a:lnSpc>
                <a:spcPct val="120000"/>
              </a:lnSpc>
              <a:buNone/>
            </a:pPr>
            <a:r>
              <a:rPr lang="en-US" sz="1150" dirty="0">
                <a:solidFill>
                  <a:srgbClr val="5A6B6E"/>
                </a:solidFill>
                <a:latin typeface="Georgia" pitchFamily="34" charset="0"/>
                <a:ea typeface="Georgia" pitchFamily="34" charset="-122"/>
                <a:cs typeface="Georgia" pitchFamily="34" charset="-120"/>
              </a:rPr>
              <a:t>Text becomes typed knowledge atoms with confidence, entities and a decay rate.</a:t>
            </a:r>
            <a:endParaRPr lang="en-US" sz="1150" dirty="0"/>
          </a:p>
        </p:txBody>
      </p:sp>
      <p:sp>
        <p:nvSpPr>
          <p:cNvPr id="13" name="Text 11"/>
          <p:cNvSpPr/>
          <p:nvPr/>
        </p:nvSpPr>
        <p:spPr>
          <a:xfrm>
            <a:off x="9427464" y="2404872"/>
            <a:ext cx="2103120" cy="274320"/>
          </a:xfrm>
          <a:prstGeom prst="rect">
            <a:avLst/>
          </a:prstGeom>
          <a:noFill/>
          <a:ln/>
        </p:spPr>
        <p:txBody>
          <a:bodyPr wrap="square" rtlCol="0" anchor="ctr"/>
          <a:lstStyle/>
          <a:p>
            <a:pPr algn="r" indent="0" marL="0">
              <a:buNone/>
            </a:pPr>
            <a:r>
              <a:rPr lang="en-US" sz="1150" dirty="0">
                <a:solidFill>
                  <a:srgbClr val="0C1719"/>
                </a:solidFill>
                <a:latin typeface="Consolas" pitchFamily="34" charset="0"/>
                <a:ea typeface="Consolas" pitchFamily="34" charset="-122"/>
                <a:cs typeface="Consolas" pitchFamily="34" charset="-120"/>
              </a:rPr>
              <a:t>148,342 atoms</a:t>
            </a:r>
            <a:endParaRPr lang="en-US" sz="1150" dirty="0"/>
          </a:p>
        </p:txBody>
      </p:sp>
      <p:sp>
        <p:nvSpPr>
          <p:cNvPr id="14" name="Shape 12"/>
          <p:cNvSpPr/>
          <p:nvPr/>
        </p:nvSpPr>
        <p:spPr>
          <a:xfrm>
            <a:off x="658368" y="3017520"/>
            <a:ext cx="10872216" cy="7315"/>
          </a:xfrm>
          <a:prstGeom prst="rect">
            <a:avLst/>
          </a:prstGeom>
          <a:solidFill>
            <a:srgbClr val="DCE4E4"/>
          </a:solidFill>
          <a:ln w="12700">
            <a:solidFill>
              <a:srgbClr val="333333"/>
            </a:solidFill>
            <a:prstDash val="solid"/>
          </a:ln>
        </p:spPr>
      </p:sp>
      <p:sp>
        <p:nvSpPr>
          <p:cNvPr id="15" name="Text 13"/>
          <p:cNvSpPr/>
          <p:nvPr/>
        </p:nvSpPr>
        <p:spPr>
          <a:xfrm>
            <a:off x="658368" y="3127248"/>
            <a:ext cx="548640" cy="274320"/>
          </a:xfrm>
          <a:prstGeom prst="rect">
            <a:avLst/>
          </a:prstGeom>
          <a:noFill/>
          <a:ln/>
        </p:spPr>
        <p:txBody>
          <a:bodyPr wrap="square" rtlCol="0" anchor="ctr"/>
          <a:lstStyle/>
          <a:p>
            <a:pPr indent="0" marL="0">
              <a:buNone/>
            </a:pPr>
            <a:r>
              <a:rPr lang="en-US" sz="1200" b="1" dirty="0">
                <a:solidFill>
                  <a:srgbClr val="0D7D6C"/>
                </a:solidFill>
                <a:latin typeface="Consolas" pitchFamily="34" charset="0"/>
                <a:ea typeface="Consolas" pitchFamily="34" charset="-122"/>
                <a:cs typeface="Consolas" pitchFamily="34" charset="-120"/>
              </a:rPr>
              <a:t>03</a:t>
            </a:r>
            <a:endParaRPr lang="en-US" sz="1200" dirty="0"/>
          </a:p>
        </p:txBody>
      </p:sp>
      <p:sp>
        <p:nvSpPr>
          <p:cNvPr id="16" name="Text 14"/>
          <p:cNvSpPr/>
          <p:nvPr/>
        </p:nvSpPr>
        <p:spPr>
          <a:xfrm>
            <a:off x="1280160" y="3090672"/>
            <a:ext cx="1645920" cy="292608"/>
          </a:xfrm>
          <a:prstGeom prst="rect">
            <a:avLst/>
          </a:prstGeom>
          <a:noFill/>
          <a:ln/>
        </p:spPr>
        <p:txBody>
          <a:bodyPr wrap="square" rtlCol="0" anchor="ctr"/>
          <a:lstStyle/>
          <a:p>
            <a:pPr indent="0" marL="0">
              <a:buNone/>
            </a:pPr>
            <a:r>
              <a:rPr lang="en-US" sz="1500" b="1" dirty="0">
                <a:solidFill>
                  <a:srgbClr val="0C1719"/>
                </a:solidFill>
                <a:latin typeface="Segoe UI" pitchFamily="34" charset="0"/>
                <a:ea typeface="Segoe UI" pitchFamily="34" charset="-122"/>
                <a:cs typeface="Segoe UI" pitchFamily="34" charset="-120"/>
              </a:rPr>
              <a:t>Predict</a:t>
            </a:r>
            <a:endParaRPr lang="en-US" sz="1500" dirty="0"/>
          </a:p>
        </p:txBody>
      </p:sp>
      <p:sp>
        <p:nvSpPr>
          <p:cNvPr id="17" name="Text 15"/>
          <p:cNvSpPr/>
          <p:nvPr/>
        </p:nvSpPr>
        <p:spPr>
          <a:xfrm>
            <a:off x="2990088" y="3108960"/>
            <a:ext cx="6309360" cy="548640"/>
          </a:xfrm>
          <a:prstGeom prst="rect">
            <a:avLst/>
          </a:prstGeom>
          <a:noFill/>
          <a:ln/>
        </p:spPr>
        <p:txBody>
          <a:bodyPr wrap="square" rtlCol="0" anchor="ctr"/>
          <a:lstStyle/>
          <a:p>
            <a:pPr indent="0" marL="0">
              <a:lnSpc>
                <a:spcPct val="120000"/>
              </a:lnSpc>
              <a:buNone/>
            </a:pPr>
            <a:r>
              <a:rPr lang="en-US" sz="1150" dirty="0">
                <a:solidFill>
                  <a:srgbClr val="5A6B6E"/>
                </a:solidFill>
                <a:latin typeface="Georgia" pitchFamily="34" charset="0"/>
                <a:ea typeface="Georgia" pitchFamily="34" charset="-122"/>
                <a:cs typeface="Georgia" pitchFamily="34" charset="-120"/>
              </a:rPr>
              <a:t>Directional calls across three horizons, each with instrument, confidence and deadline.</a:t>
            </a:r>
            <a:endParaRPr lang="en-US" sz="1150" dirty="0"/>
          </a:p>
        </p:txBody>
      </p:sp>
      <p:sp>
        <p:nvSpPr>
          <p:cNvPr id="18" name="Text 16"/>
          <p:cNvSpPr/>
          <p:nvPr/>
        </p:nvSpPr>
        <p:spPr>
          <a:xfrm>
            <a:off x="9427464" y="3127248"/>
            <a:ext cx="2103120" cy="274320"/>
          </a:xfrm>
          <a:prstGeom prst="rect">
            <a:avLst/>
          </a:prstGeom>
          <a:noFill/>
          <a:ln/>
        </p:spPr>
        <p:txBody>
          <a:bodyPr wrap="square" rtlCol="0" anchor="ctr"/>
          <a:lstStyle/>
          <a:p>
            <a:pPr algn="r" indent="0" marL="0">
              <a:buNone/>
            </a:pPr>
            <a:r>
              <a:rPr lang="en-US" sz="1150" dirty="0">
                <a:solidFill>
                  <a:srgbClr val="0C1719"/>
                </a:solidFill>
                <a:latin typeface="Consolas" pitchFamily="34" charset="0"/>
                <a:ea typeface="Consolas" pitchFamily="34" charset="-122"/>
                <a:cs typeface="Consolas" pitchFamily="34" charset="-120"/>
              </a:rPr>
              <a:t>114 made / 7d</a:t>
            </a:r>
            <a:endParaRPr lang="en-US" sz="1150" dirty="0"/>
          </a:p>
        </p:txBody>
      </p:sp>
      <p:sp>
        <p:nvSpPr>
          <p:cNvPr id="19" name="Shape 17"/>
          <p:cNvSpPr/>
          <p:nvPr/>
        </p:nvSpPr>
        <p:spPr>
          <a:xfrm>
            <a:off x="658368" y="3739896"/>
            <a:ext cx="10872216" cy="7315"/>
          </a:xfrm>
          <a:prstGeom prst="rect">
            <a:avLst/>
          </a:prstGeom>
          <a:solidFill>
            <a:srgbClr val="DCE4E4"/>
          </a:solidFill>
          <a:ln w="12700">
            <a:solidFill>
              <a:srgbClr val="333333"/>
            </a:solidFill>
            <a:prstDash val="solid"/>
          </a:ln>
        </p:spPr>
      </p:sp>
      <p:sp>
        <p:nvSpPr>
          <p:cNvPr id="20" name="Text 18"/>
          <p:cNvSpPr/>
          <p:nvPr/>
        </p:nvSpPr>
        <p:spPr>
          <a:xfrm>
            <a:off x="658368" y="3849624"/>
            <a:ext cx="548640" cy="274320"/>
          </a:xfrm>
          <a:prstGeom prst="rect">
            <a:avLst/>
          </a:prstGeom>
          <a:noFill/>
          <a:ln/>
        </p:spPr>
        <p:txBody>
          <a:bodyPr wrap="square" rtlCol="0" anchor="ctr"/>
          <a:lstStyle/>
          <a:p>
            <a:pPr indent="0" marL="0">
              <a:buNone/>
            </a:pPr>
            <a:r>
              <a:rPr lang="en-US" sz="1200" b="1" dirty="0">
                <a:solidFill>
                  <a:srgbClr val="0D7D6C"/>
                </a:solidFill>
                <a:latin typeface="Consolas" pitchFamily="34" charset="0"/>
                <a:ea typeface="Consolas" pitchFamily="34" charset="-122"/>
                <a:cs typeface="Consolas" pitchFamily="34" charset="-120"/>
              </a:rPr>
              <a:t>04</a:t>
            </a:r>
            <a:endParaRPr lang="en-US" sz="1200" dirty="0"/>
          </a:p>
        </p:txBody>
      </p:sp>
      <p:sp>
        <p:nvSpPr>
          <p:cNvPr id="21" name="Text 19"/>
          <p:cNvSpPr/>
          <p:nvPr/>
        </p:nvSpPr>
        <p:spPr>
          <a:xfrm>
            <a:off x="1280160" y="3813048"/>
            <a:ext cx="1645920" cy="292608"/>
          </a:xfrm>
          <a:prstGeom prst="rect">
            <a:avLst/>
          </a:prstGeom>
          <a:noFill/>
          <a:ln/>
        </p:spPr>
        <p:txBody>
          <a:bodyPr wrap="square" rtlCol="0" anchor="ctr"/>
          <a:lstStyle/>
          <a:p>
            <a:pPr indent="0" marL="0">
              <a:buNone/>
            </a:pPr>
            <a:r>
              <a:rPr lang="en-US" sz="1500" b="1" dirty="0">
                <a:solidFill>
                  <a:srgbClr val="0C1719"/>
                </a:solidFill>
                <a:latin typeface="Segoe UI" pitchFamily="34" charset="0"/>
                <a:ea typeface="Segoe UI" pitchFamily="34" charset="-122"/>
                <a:cs typeface="Segoe UI" pitchFamily="34" charset="-120"/>
              </a:rPr>
              <a:t>Grade</a:t>
            </a:r>
            <a:endParaRPr lang="en-US" sz="1500" dirty="0"/>
          </a:p>
        </p:txBody>
      </p:sp>
      <p:sp>
        <p:nvSpPr>
          <p:cNvPr id="22" name="Text 20"/>
          <p:cNvSpPr/>
          <p:nvPr/>
        </p:nvSpPr>
        <p:spPr>
          <a:xfrm>
            <a:off x="2990088" y="3831336"/>
            <a:ext cx="6309360" cy="548640"/>
          </a:xfrm>
          <a:prstGeom prst="rect">
            <a:avLst/>
          </a:prstGeom>
          <a:noFill/>
          <a:ln/>
        </p:spPr>
        <p:txBody>
          <a:bodyPr wrap="square" rtlCol="0" anchor="ctr"/>
          <a:lstStyle/>
          <a:p>
            <a:pPr indent="0" marL="0">
              <a:lnSpc>
                <a:spcPct val="120000"/>
              </a:lnSpc>
              <a:buNone/>
            </a:pPr>
            <a:r>
              <a:rPr lang="en-US" sz="1150" dirty="0">
                <a:solidFill>
                  <a:srgbClr val="5A6B6E"/>
                </a:solidFill>
                <a:latin typeface="Georgia" pitchFamily="34" charset="0"/>
                <a:ea typeface="Georgia" pitchFamily="34" charset="-122"/>
                <a:cs typeface="Georgia" pitchFamily="34" charset="-120"/>
              </a:rPr>
              <a:t>Deterministic settlement against normalised closes. Arithmetic, not judgement.</a:t>
            </a:r>
            <a:endParaRPr lang="en-US" sz="1150" dirty="0"/>
          </a:p>
        </p:txBody>
      </p:sp>
      <p:sp>
        <p:nvSpPr>
          <p:cNvPr id="23" name="Text 21"/>
          <p:cNvSpPr/>
          <p:nvPr/>
        </p:nvSpPr>
        <p:spPr>
          <a:xfrm>
            <a:off x="9427464" y="3849624"/>
            <a:ext cx="2103120" cy="274320"/>
          </a:xfrm>
          <a:prstGeom prst="rect">
            <a:avLst/>
          </a:prstGeom>
          <a:noFill/>
          <a:ln/>
        </p:spPr>
        <p:txBody>
          <a:bodyPr wrap="square" rtlCol="0" anchor="ctr"/>
          <a:lstStyle/>
          <a:p>
            <a:pPr algn="r" indent="0" marL="0">
              <a:buNone/>
            </a:pPr>
            <a:r>
              <a:rPr lang="en-US" sz="1150" dirty="0">
                <a:solidFill>
                  <a:srgbClr val="0C1719"/>
                </a:solidFill>
                <a:latin typeface="Consolas" pitchFamily="34" charset="0"/>
                <a:ea typeface="Consolas" pitchFamily="34" charset="-122"/>
                <a:cs typeface="Consolas" pitchFamily="34" charset="-120"/>
              </a:rPr>
              <a:t>0 past due</a:t>
            </a:r>
            <a:endParaRPr lang="en-US" sz="1150" dirty="0"/>
          </a:p>
        </p:txBody>
      </p:sp>
      <p:sp>
        <p:nvSpPr>
          <p:cNvPr id="24" name="Shape 22"/>
          <p:cNvSpPr/>
          <p:nvPr/>
        </p:nvSpPr>
        <p:spPr>
          <a:xfrm>
            <a:off x="658368" y="4462272"/>
            <a:ext cx="10872216" cy="7315"/>
          </a:xfrm>
          <a:prstGeom prst="rect">
            <a:avLst/>
          </a:prstGeom>
          <a:solidFill>
            <a:srgbClr val="DCE4E4"/>
          </a:solidFill>
          <a:ln w="12700">
            <a:solidFill>
              <a:srgbClr val="333333"/>
            </a:solidFill>
            <a:prstDash val="solid"/>
          </a:ln>
        </p:spPr>
      </p:sp>
      <p:sp>
        <p:nvSpPr>
          <p:cNvPr id="25" name="Text 23"/>
          <p:cNvSpPr/>
          <p:nvPr/>
        </p:nvSpPr>
        <p:spPr>
          <a:xfrm>
            <a:off x="658368" y="4572000"/>
            <a:ext cx="548640" cy="274320"/>
          </a:xfrm>
          <a:prstGeom prst="rect">
            <a:avLst/>
          </a:prstGeom>
          <a:noFill/>
          <a:ln/>
        </p:spPr>
        <p:txBody>
          <a:bodyPr wrap="square" rtlCol="0" anchor="ctr"/>
          <a:lstStyle/>
          <a:p>
            <a:pPr indent="0" marL="0">
              <a:buNone/>
            </a:pPr>
            <a:r>
              <a:rPr lang="en-US" sz="1200" b="1" dirty="0">
                <a:solidFill>
                  <a:srgbClr val="0D7D6C"/>
                </a:solidFill>
                <a:latin typeface="Consolas" pitchFamily="34" charset="0"/>
                <a:ea typeface="Consolas" pitchFamily="34" charset="-122"/>
                <a:cs typeface="Consolas" pitchFamily="34" charset="-120"/>
              </a:rPr>
              <a:t>05</a:t>
            </a:r>
            <a:endParaRPr lang="en-US" sz="1200" dirty="0"/>
          </a:p>
        </p:txBody>
      </p:sp>
      <p:sp>
        <p:nvSpPr>
          <p:cNvPr id="26" name="Text 24"/>
          <p:cNvSpPr/>
          <p:nvPr/>
        </p:nvSpPr>
        <p:spPr>
          <a:xfrm>
            <a:off x="1280160" y="4535424"/>
            <a:ext cx="1645920" cy="292608"/>
          </a:xfrm>
          <a:prstGeom prst="rect">
            <a:avLst/>
          </a:prstGeom>
          <a:noFill/>
          <a:ln/>
        </p:spPr>
        <p:txBody>
          <a:bodyPr wrap="square" rtlCol="0" anchor="ctr"/>
          <a:lstStyle/>
          <a:p>
            <a:pPr indent="0" marL="0">
              <a:buNone/>
            </a:pPr>
            <a:r>
              <a:rPr lang="en-US" sz="1500" b="1" dirty="0">
                <a:solidFill>
                  <a:srgbClr val="0C1719"/>
                </a:solidFill>
                <a:latin typeface="Segoe UI" pitchFamily="34" charset="0"/>
                <a:ea typeface="Segoe UI" pitchFamily="34" charset="-122"/>
                <a:cs typeface="Segoe UI" pitchFamily="34" charset="-120"/>
              </a:rPr>
              <a:t>Learn</a:t>
            </a:r>
            <a:endParaRPr lang="en-US" sz="1500" dirty="0"/>
          </a:p>
        </p:txBody>
      </p:sp>
      <p:sp>
        <p:nvSpPr>
          <p:cNvPr id="27" name="Text 25"/>
          <p:cNvSpPr/>
          <p:nvPr/>
        </p:nvSpPr>
        <p:spPr>
          <a:xfrm>
            <a:off x="2990088" y="4553712"/>
            <a:ext cx="6309360" cy="548640"/>
          </a:xfrm>
          <a:prstGeom prst="rect">
            <a:avLst/>
          </a:prstGeom>
          <a:noFill/>
          <a:ln/>
        </p:spPr>
        <p:txBody>
          <a:bodyPr wrap="square" rtlCol="0" anchor="ctr"/>
          <a:lstStyle/>
          <a:p>
            <a:pPr indent="0" marL="0">
              <a:lnSpc>
                <a:spcPct val="120000"/>
              </a:lnSpc>
              <a:buNone/>
            </a:pPr>
            <a:r>
              <a:rPr lang="en-US" sz="1150" dirty="0">
                <a:solidFill>
                  <a:srgbClr val="5A6B6E"/>
                </a:solidFill>
                <a:latin typeface="Georgia" pitchFamily="34" charset="0"/>
                <a:ea typeface="Georgia" pitchFamily="34" charset="-122"/>
                <a:cs typeface="Georgia" pitchFamily="34" charset="-120"/>
              </a:rPr>
              <a:t>Outcomes update signal weights and calibration; surprises open investigations.</a:t>
            </a:r>
            <a:endParaRPr lang="en-US" sz="1150" dirty="0"/>
          </a:p>
        </p:txBody>
      </p:sp>
      <p:sp>
        <p:nvSpPr>
          <p:cNvPr id="28" name="Text 26"/>
          <p:cNvSpPr/>
          <p:nvPr/>
        </p:nvSpPr>
        <p:spPr>
          <a:xfrm>
            <a:off x="9427464" y="4572000"/>
            <a:ext cx="2103120" cy="274320"/>
          </a:xfrm>
          <a:prstGeom prst="rect">
            <a:avLst/>
          </a:prstGeom>
          <a:noFill/>
          <a:ln/>
        </p:spPr>
        <p:txBody>
          <a:bodyPr wrap="square" rtlCol="0" anchor="ctr"/>
          <a:lstStyle/>
          <a:p>
            <a:pPr algn="r" indent="0" marL="0">
              <a:buNone/>
            </a:pPr>
            <a:r>
              <a:rPr lang="en-US" sz="1150" dirty="0">
                <a:solidFill>
                  <a:srgbClr val="0C1719"/>
                </a:solidFill>
                <a:latin typeface="Consolas" pitchFamily="34" charset="0"/>
                <a:ea typeface="Consolas" pitchFamily="34" charset="-122"/>
                <a:cs typeface="Consolas" pitchFamily="34" charset="-120"/>
              </a:rPr>
              <a:t>20 weights tuned</a:t>
            </a:r>
            <a:endParaRPr lang="en-US" sz="1150" dirty="0"/>
          </a:p>
        </p:txBody>
      </p:sp>
      <p:sp>
        <p:nvSpPr>
          <p:cNvPr id="29" name="Shape 27"/>
          <p:cNvSpPr/>
          <p:nvPr/>
        </p:nvSpPr>
        <p:spPr>
          <a:xfrm>
            <a:off x="658368" y="5184648"/>
            <a:ext cx="10872216" cy="7315"/>
          </a:xfrm>
          <a:prstGeom prst="rect">
            <a:avLst/>
          </a:prstGeom>
          <a:solidFill>
            <a:srgbClr val="DCE4E4"/>
          </a:solidFill>
          <a:ln w="12700">
            <a:solidFill>
              <a:srgbClr val="333333"/>
            </a:solidFill>
            <a:prstDash val="solid"/>
          </a:ln>
        </p:spPr>
      </p:sp>
      <p:sp>
        <p:nvSpPr>
          <p:cNvPr id="30" name="Text 28"/>
          <p:cNvSpPr/>
          <p:nvPr/>
        </p:nvSpPr>
        <p:spPr>
          <a:xfrm>
            <a:off x="658368" y="5294376"/>
            <a:ext cx="548640" cy="274320"/>
          </a:xfrm>
          <a:prstGeom prst="rect">
            <a:avLst/>
          </a:prstGeom>
          <a:noFill/>
          <a:ln/>
        </p:spPr>
        <p:txBody>
          <a:bodyPr wrap="square" rtlCol="0" anchor="ctr"/>
          <a:lstStyle/>
          <a:p>
            <a:pPr indent="0" marL="0">
              <a:buNone/>
            </a:pPr>
            <a:r>
              <a:rPr lang="en-US" sz="1200" b="1" dirty="0">
                <a:solidFill>
                  <a:srgbClr val="0D7D6C"/>
                </a:solidFill>
                <a:latin typeface="Consolas" pitchFamily="34" charset="0"/>
                <a:ea typeface="Consolas" pitchFamily="34" charset="-122"/>
                <a:cs typeface="Consolas" pitchFamily="34" charset="-120"/>
              </a:rPr>
              <a:t>06</a:t>
            </a:r>
            <a:endParaRPr lang="en-US" sz="1200" dirty="0"/>
          </a:p>
        </p:txBody>
      </p:sp>
      <p:sp>
        <p:nvSpPr>
          <p:cNvPr id="31" name="Text 29"/>
          <p:cNvSpPr/>
          <p:nvPr/>
        </p:nvSpPr>
        <p:spPr>
          <a:xfrm>
            <a:off x="1280160" y="5257800"/>
            <a:ext cx="1645920" cy="292608"/>
          </a:xfrm>
          <a:prstGeom prst="rect">
            <a:avLst/>
          </a:prstGeom>
          <a:noFill/>
          <a:ln/>
        </p:spPr>
        <p:txBody>
          <a:bodyPr wrap="square" rtlCol="0" anchor="ctr"/>
          <a:lstStyle/>
          <a:p>
            <a:pPr indent="0" marL="0">
              <a:buNone/>
            </a:pPr>
            <a:r>
              <a:rPr lang="en-US" sz="1500" b="1" dirty="0">
                <a:solidFill>
                  <a:srgbClr val="0C1719"/>
                </a:solidFill>
                <a:latin typeface="Segoe UI" pitchFamily="34" charset="0"/>
                <a:ea typeface="Segoe UI" pitchFamily="34" charset="-122"/>
                <a:cs typeface="Segoe UI" pitchFamily="34" charset="-120"/>
              </a:rPr>
              <a:t>Act</a:t>
            </a:r>
            <a:endParaRPr lang="en-US" sz="1500" dirty="0"/>
          </a:p>
        </p:txBody>
      </p:sp>
      <p:sp>
        <p:nvSpPr>
          <p:cNvPr id="32" name="Text 30"/>
          <p:cNvSpPr/>
          <p:nvPr/>
        </p:nvSpPr>
        <p:spPr>
          <a:xfrm>
            <a:off x="2990088" y="5276088"/>
            <a:ext cx="6309360" cy="548640"/>
          </a:xfrm>
          <a:prstGeom prst="rect">
            <a:avLst/>
          </a:prstGeom>
          <a:noFill/>
          <a:ln/>
        </p:spPr>
        <p:txBody>
          <a:bodyPr wrap="square" rtlCol="0" anchor="ctr"/>
          <a:lstStyle/>
          <a:p>
            <a:pPr indent="0" marL="0">
              <a:lnSpc>
                <a:spcPct val="120000"/>
              </a:lnSpc>
              <a:buNone/>
            </a:pPr>
            <a:r>
              <a:rPr lang="en-US" sz="1150" dirty="0">
                <a:solidFill>
                  <a:srgbClr val="5A6B6E"/>
                </a:solidFill>
                <a:latin typeface="Georgia" pitchFamily="34" charset="0"/>
                <a:ea typeface="Georgia" pitchFamily="34" charset="-122"/>
                <a:cs typeface="Georgia" pitchFamily="34" charset="-120"/>
              </a:rPr>
              <a:t>Conviction drives rebalancing — currently shadow: recorded, never traded.</a:t>
            </a:r>
            <a:endParaRPr lang="en-US" sz="1150" dirty="0"/>
          </a:p>
        </p:txBody>
      </p:sp>
      <p:sp>
        <p:nvSpPr>
          <p:cNvPr id="33" name="Text 31"/>
          <p:cNvSpPr/>
          <p:nvPr/>
        </p:nvSpPr>
        <p:spPr>
          <a:xfrm>
            <a:off x="9427464" y="5294376"/>
            <a:ext cx="2103120" cy="274320"/>
          </a:xfrm>
          <a:prstGeom prst="rect">
            <a:avLst/>
          </a:prstGeom>
          <a:noFill/>
          <a:ln/>
        </p:spPr>
        <p:txBody>
          <a:bodyPr wrap="square" rtlCol="0" anchor="ctr"/>
          <a:lstStyle/>
          <a:p>
            <a:pPr algn="r" indent="0" marL="0">
              <a:buNone/>
            </a:pPr>
            <a:r>
              <a:rPr lang="en-US" sz="1150" dirty="0">
                <a:solidFill>
                  <a:srgbClr val="0C1719"/>
                </a:solidFill>
                <a:latin typeface="Consolas" pitchFamily="34" charset="0"/>
                <a:ea typeface="Consolas" pitchFamily="34" charset="-122"/>
                <a:cs typeface="Consolas" pitchFamily="34" charset="-120"/>
              </a:rPr>
              <a:t>6 portfolios</a:t>
            </a:r>
            <a:endParaRPr lang="en-US" sz="1150" dirty="0"/>
          </a:p>
        </p:txBody>
      </p:sp>
      <p:sp>
        <p:nvSpPr>
          <p:cNvPr id="34" name="Text 32"/>
          <p:cNvSpPr/>
          <p:nvPr/>
        </p:nvSpPr>
        <p:spPr>
          <a:xfrm>
            <a:off x="658368" y="6382512"/>
            <a:ext cx="5486400" cy="237744"/>
          </a:xfrm>
          <a:prstGeom prst="rect">
            <a:avLst/>
          </a:prstGeom>
          <a:noFill/>
          <a:ln/>
        </p:spPr>
        <p:txBody>
          <a:bodyPr wrap="square" rtlCol="0" anchor="ctr"/>
          <a:lstStyle/>
          <a:p>
            <a:pPr indent="0" marL="0">
              <a:buNone/>
            </a:pPr>
            <a:r>
              <a:rPr lang="en-US" sz="900" dirty="0">
                <a:solidFill>
                  <a:srgbClr val="8A9A9C"/>
                </a:solidFill>
                <a:latin typeface="Segoe UI" pitchFamily="34" charset="0"/>
                <a:ea typeface="Segoe UI" pitchFamily="34" charset="-122"/>
                <a:cs typeface="Segoe UI" pitchFamily="34" charset="-120"/>
              </a:rPr>
              <a:t>ANTON by openEXPERT — Markets pillar</a:t>
            </a:r>
            <a:endParaRPr lang="en-US" sz="900" dirty="0"/>
          </a:p>
        </p:txBody>
      </p:sp>
      <p:sp>
        <p:nvSpPr>
          <p:cNvPr id="35" name="Text 33"/>
          <p:cNvSpPr/>
          <p:nvPr/>
        </p:nvSpPr>
        <p:spPr>
          <a:xfrm>
            <a:off x="10981944" y="6382512"/>
            <a:ext cx="548640" cy="237744"/>
          </a:xfrm>
          <a:prstGeom prst="rect">
            <a:avLst/>
          </a:prstGeom>
          <a:noFill/>
          <a:ln/>
        </p:spPr>
        <p:txBody>
          <a:bodyPr wrap="square" rtlCol="0" anchor="ctr"/>
          <a:lstStyle/>
          <a:p>
            <a:pPr algn="r" indent="0" marL="0">
              <a:buNone/>
            </a:pPr>
            <a:r>
              <a:rPr lang="en-US" sz="900" dirty="0">
                <a:solidFill>
                  <a:srgbClr val="8A9A9C"/>
                </a:solidFill>
                <a:latin typeface="Consolas" pitchFamily="34" charset="0"/>
                <a:ea typeface="Consolas" pitchFamily="34" charset="-122"/>
                <a:cs typeface="Consola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B"/>
        </a:solidFill>
      </p:bgPr>
    </p:bg>
    <p:spTree>
      <p:nvGrpSpPr>
        <p:cNvPr id="1" name=""/>
        <p:cNvGrpSpPr/>
        <p:nvPr/>
      </p:nvGrpSpPr>
      <p:grpSpPr>
        <a:xfrm>
          <a:off x="0" y="0"/>
          <a:ext cx="0" cy="0"/>
          <a:chOff x="0" y="0"/>
          <a:chExt cx="0" cy="0"/>
        </a:xfrm>
      </p:grpSpPr>
      <p:sp>
        <p:nvSpPr>
          <p:cNvPr id="2" name="Text 0"/>
          <p:cNvSpPr/>
          <p:nvPr/>
        </p:nvSpPr>
        <p:spPr>
          <a:xfrm>
            <a:off x="658368" y="384048"/>
            <a:ext cx="10872216" cy="237744"/>
          </a:xfrm>
          <a:prstGeom prst="rect">
            <a:avLst/>
          </a:prstGeom>
          <a:noFill/>
          <a:ln/>
        </p:spPr>
        <p:txBody>
          <a:bodyPr wrap="square" rtlCol="0" anchor="ctr"/>
          <a:lstStyle/>
          <a:p>
            <a:pPr indent="0" marL="0">
              <a:buNone/>
            </a:pPr>
            <a:r>
              <a:rPr lang="en-US" sz="1000" b="1" spc="160" kern="0" dirty="0">
                <a:solidFill>
                  <a:srgbClr val="5A6B6E"/>
                </a:solidFill>
                <a:latin typeface="Segoe UI" pitchFamily="34" charset="0"/>
                <a:ea typeface="Segoe UI" pitchFamily="34" charset="-122"/>
                <a:cs typeface="Segoe UI" pitchFamily="34" charset="-120"/>
              </a:rPr>
              <a:t>MODELS</a:t>
            </a:r>
            <a:endParaRPr lang="en-US" sz="1000" dirty="0"/>
          </a:p>
        </p:txBody>
      </p:sp>
      <p:sp>
        <p:nvSpPr>
          <p:cNvPr id="3" name="Text 1"/>
          <p:cNvSpPr/>
          <p:nvPr/>
        </p:nvSpPr>
        <p:spPr>
          <a:xfrm>
            <a:off x="658368" y="658368"/>
            <a:ext cx="10872216" cy="658368"/>
          </a:xfrm>
          <a:prstGeom prst="rect">
            <a:avLst/>
          </a:prstGeom>
          <a:noFill/>
          <a:ln/>
        </p:spPr>
        <p:txBody>
          <a:bodyPr wrap="square" rtlCol="0" anchor="ctr"/>
          <a:lstStyle/>
          <a:p>
            <a:pPr indent="0" marL="0">
              <a:buNone/>
            </a:pPr>
            <a:r>
              <a:rPr lang="en-US" sz="2700" b="1" dirty="0">
                <a:solidFill>
                  <a:srgbClr val="0C1719"/>
                </a:solidFill>
                <a:latin typeface="Segoe UI" pitchFamily="34" charset="0"/>
                <a:ea typeface="Segoe UI" pitchFamily="34" charset="-122"/>
                <a:cs typeface="Segoe UI" pitchFamily="34" charset="-120"/>
              </a:rPr>
              <a:t>The model is a component, not the architecture</a:t>
            </a:r>
            <a:endParaRPr lang="en-US" sz="2700" dirty="0"/>
          </a:p>
        </p:txBody>
      </p:sp>
      <p:sp>
        <p:nvSpPr>
          <p:cNvPr id="4" name="Shape 2"/>
          <p:cNvSpPr/>
          <p:nvPr/>
        </p:nvSpPr>
        <p:spPr>
          <a:xfrm>
            <a:off x="658368" y="1389888"/>
            <a:ext cx="10872216" cy="10973"/>
          </a:xfrm>
          <a:prstGeom prst="rect">
            <a:avLst/>
          </a:prstGeom>
          <a:solidFill>
            <a:srgbClr val="DCE4E4"/>
          </a:solidFill>
          <a:ln w="12700">
            <a:solidFill>
              <a:srgbClr val="333333"/>
            </a:solidFill>
            <a:prstDash val="solid"/>
          </a:ln>
        </p:spPr>
      </p:sp>
      <p:sp>
        <p:nvSpPr>
          <p:cNvPr id="5" name="Text 3"/>
          <p:cNvSpPr/>
          <p:nvPr/>
        </p:nvSpPr>
        <p:spPr>
          <a:xfrm>
            <a:off x="658368" y="1664208"/>
            <a:ext cx="10872216" cy="914400"/>
          </a:xfrm>
          <a:prstGeom prst="rect">
            <a:avLst/>
          </a:prstGeom>
          <a:noFill/>
          <a:ln/>
        </p:spPr>
        <p:txBody>
          <a:bodyPr wrap="square" rtlCol="0" anchor="ctr"/>
          <a:lstStyle/>
          <a:p>
            <a:pPr indent="0" marL="0">
              <a:lnSpc>
                <a:spcPct val="135000"/>
              </a:lnSpc>
              <a:buNone/>
            </a:pPr>
            <a:r>
              <a:rPr lang="en-US" sz="1400" b="1" dirty="0">
                <a:solidFill>
                  <a:srgbClr val="0C1719"/>
                </a:solidFill>
                <a:latin typeface="Georgia" pitchFamily="34" charset="0"/>
                <a:ea typeface="Georgia" pitchFamily="34" charset="-122"/>
                <a:cs typeface="Georgia" pitchFamily="34" charset="-120"/>
              </a:rPr>
              <a:t>Reasoning runs on Claude Opus 5</a:t>
            </a:r>
            <a:pPr indent="0" marL="0">
              <a:lnSpc>
                <a:spcPct val="135000"/>
              </a:lnSpc>
              <a:buNone/>
            </a:pPr>
            <a:r>
              <a:rPr lang="en-US" sz="1400" dirty="0">
                <a:solidFill>
                  <a:srgbClr val="0C1719"/>
                </a:solidFill>
                <a:latin typeface="Georgia" pitchFamily="34" charset="0"/>
                <a:ea typeface="Georgia" pitchFamily="34" charset="-122"/>
                <a:cs typeface="Georgia" pitchFamily="34" charset="-120"/>
              </a:rPr>
              <a:t> through the subscription execution engine — no API key in the path. A provider router sits between the pillar and the model, so the same call dispatches to Anthropic, OpenAI, Azure, Gemini, Mistral, local Ollama or any OpenAI-compatible endpoint. Model choice is a runtime setting, not a rewrite.</a:t>
            </a:r>
            <a:endParaRPr lang="en-US" sz="1400" dirty="0"/>
          </a:p>
        </p:txBody>
      </p:sp>
      <p:sp>
        <p:nvSpPr>
          <p:cNvPr id="6" name="Shape 4"/>
          <p:cNvSpPr/>
          <p:nvPr/>
        </p:nvSpPr>
        <p:spPr>
          <a:xfrm>
            <a:off x="658368" y="2743200"/>
            <a:ext cx="5298948" cy="1828800"/>
          </a:xfrm>
          <a:prstGeom prst="rect">
            <a:avLst/>
          </a:prstGeom>
          <a:solidFill>
            <a:srgbClr val="E6F2EF"/>
          </a:solidFill>
          <a:ln w="9525">
            <a:solidFill>
              <a:srgbClr val="DCE4E4"/>
            </a:solidFill>
            <a:prstDash val="solid"/>
          </a:ln>
        </p:spPr>
      </p:sp>
      <p:sp>
        <p:nvSpPr>
          <p:cNvPr id="7" name="Text 5"/>
          <p:cNvSpPr/>
          <p:nvPr/>
        </p:nvSpPr>
        <p:spPr>
          <a:xfrm>
            <a:off x="877824" y="2944368"/>
            <a:ext cx="4860036" cy="237744"/>
          </a:xfrm>
          <a:prstGeom prst="rect">
            <a:avLst/>
          </a:prstGeom>
          <a:noFill/>
          <a:ln/>
        </p:spPr>
        <p:txBody>
          <a:bodyPr wrap="square" rtlCol="0" anchor="ctr"/>
          <a:lstStyle/>
          <a:p>
            <a:pPr indent="0" marL="0">
              <a:buNone/>
            </a:pPr>
            <a:r>
              <a:rPr lang="en-US" sz="950" b="1" spc="140" kern="0" dirty="0">
                <a:solidFill>
                  <a:srgbClr val="06584C"/>
                </a:solidFill>
                <a:latin typeface="Segoe UI" pitchFamily="34" charset="0"/>
                <a:ea typeface="Segoe UI" pitchFamily="34" charset="-122"/>
                <a:cs typeface="Segoe UI" pitchFamily="34" charset="-120"/>
              </a:rPr>
              <a:t>WHAT THE MODEL DOES</a:t>
            </a:r>
            <a:endParaRPr lang="en-US" sz="950" dirty="0"/>
          </a:p>
        </p:txBody>
      </p:sp>
      <p:sp>
        <p:nvSpPr>
          <p:cNvPr id="8" name="Text 6"/>
          <p:cNvSpPr/>
          <p:nvPr/>
        </p:nvSpPr>
        <p:spPr>
          <a:xfrm>
            <a:off x="877824" y="3291840"/>
            <a:ext cx="4860036" cy="1188720"/>
          </a:xfrm>
          <a:prstGeom prst="rect">
            <a:avLst/>
          </a:prstGeom>
          <a:noFill/>
          <a:ln/>
        </p:spPr>
        <p:txBody>
          <a:bodyPr wrap="square" rtlCol="0" anchor="ctr"/>
          <a:lstStyle/>
          <a:p>
            <a:pPr indent="0" marL="0">
              <a:lnSpc>
                <a:spcPct val="130000"/>
              </a:lnSpc>
              <a:buNone/>
            </a:pPr>
            <a:r>
              <a:rPr lang="en-US" sz="1250" dirty="0">
                <a:solidFill>
                  <a:srgbClr val="0C1719"/>
                </a:solidFill>
                <a:latin typeface="Georgia" pitchFamily="34" charset="0"/>
                <a:ea typeface="Georgia" pitchFamily="34" charset="-122"/>
                <a:cs typeface="Georgia" pitchFamily="34" charset="-120"/>
              </a:rPr>
              <a:t>Reads the atom corpus and forms directional views. Writes the rationale. Runs five-whys root-cause analysis on failures. Synthesises narrative for the desk.</a:t>
            </a:r>
            <a:endParaRPr lang="en-US" sz="1250" dirty="0"/>
          </a:p>
        </p:txBody>
      </p:sp>
      <p:sp>
        <p:nvSpPr>
          <p:cNvPr id="9" name="Shape 7"/>
          <p:cNvSpPr/>
          <p:nvPr/>
        </p:nvSpPr>
        <p:spPr>
          <a:xfrm>
            <a:off x="6231636" y="2743200"/>
            <a:ext cx="5298948" cy="1828800"/>
          </a:xfrm>
          <a:prstGeom prst="rect">
            <a:avLst/>
          </a:prstGeom>
          <a:solidFill>
            <a:srgbClr val="FFFFFF"/>
          </a:solidFill>
          <a:ln w="9525">
            <a:solidFill>
              <a:srgbClr val="DCE4E4"/>
            </a:solidFill>
            <a:prstDash val="solid"/>
          </a:ln>
        </p:spPr>
      </p:sp>
      <p:sp>
        <p:nvSpPr>
          <p:cNvPr id="10" name="Text 8"/>
          <p:cNvSpPr/>
          <p:nvPr/>
        </p:nvSpPr>
        <p:spPr>
          <a:xfrm>
            <a:off x="6451092" y="2944368"/>
            <a:ext cx="4860036" cy="237744"/>
          </a:xfrm>
          <a:prstGeom prst="rect">
            <a:avLst/>
          </a:prstGeom>
          <a:noFill/>
          <a:ln/>
        </p:spPr>
        <p:txBody>
          <a:bodyPr wrap="square" rtlCol="0" anchor="ctr"/>
          <a:lstStyle/>
          <a:p>
            <a:pPr indent="0" marL="0">
              <a:buNone/>
            </a:pPr>
            <a:r>
              <a:rPr lang="en-US" sz="950" b="1" spc="140" kern="0" dirty="0">
                <a:solidFill>
                  <a:srgbClr val="9E3F37"/>
                </a:solidFill>
                <a:latin typeface="Segoe UI" pitchFamily="34" charset="0"/>
                <a:ea typeface="Segoe UI" pitchFamily="34" charset="-122"/>
                <a:cs typeface="Segoe UI" pitchFamily="34" charset="-120"/>
              </a:rPr>
              <a:t>WHAT THE MODEL NEVER DOES</a:t>
            </a:r>
            <a:endParaRPr lang="en-US" sz="950" dirty="0"/>
          </a:p>
        </p:txBody>
      </p:sp>
      <p:sp>
        <p:nvSpPr>
          <p:cNvPr id="11" name="Text 9"/>
          <p:cNvSpPr/>
          <p:nvPr/>
        </p:nvSpPr>
        <p:spPr>
          <a:xfrm>
            <a:off x="6451092" y="3291840"/>
            <a:ext cx="4860036" cy="1188720"/>
          </a:xfrm>
          <a:prstGeom prst="rect">
            <a:avLst/>
          </a:prstGeom>
          <a:noFill/>
          <a:ln/>
        </p:spPr>
        <p:txBody>
          <a:bodyPr wrap="square" rtlCol="0" anchor="ctr"/>
          <a:lstStyle/>
          <a:p>
            <a:pPr indent="0" marL="0">
              <a:lnSpc>
                <a:spcPct val="130000"/>
              </a:lnSpc>
              <a:buNone/>
            </a:pPr>
            <a:r>
              <a:rPr lang="en-US" sz="1250" dirty="0">
                <a:solidFill>
                  <a:srgbClr val="0C1719"/>
                </a:solidFill>
                <a:latin typeface="Georgia" pitchFamily="34" charset="0"/>
                <a:ea typeface="Georgia" pitchFamily="34" charset="-122"/>
                <a:cs typeface="Georgia" pitchFamily="34" charset="-120"/>
              </a:rPr>
              <a:t>Decide whether a prediction was correct. Compute a Brier score, a NAV or a portfolio weight. Every number that judges the system is arithmetic over price data.</a:t>
            </a:r>
            <a:endParaRPr lang="en-US" sz="1250" dirty="0"/>
          </a:p>
        </p:txBody>
      </p:sp>
      <p:sp>
        <p:nvSpPr>
          <p:cNvPr id="12" name="Text 10"/>
          <p:cNvSpPr/>
          <p:nvPr/>
        </p:nvSpPr>
        <p:spPr>
          <a:xfrm>
            <a:off x="658368" y="4800600"/>
            <a:ext cx="10872216" cy="457200"/>
          </a:xfrm>
          <a:prstGeom prst="rect">
            <a:avLst/>
          </a:prstGeom>
          <a:noFill/>
          <a:ln/>
        </p:spPr>
        <p:txBody>
          <a:bodyPr wrap="square" rtlCol="0" anchor="ctr"/>
          <a:lstStyle/>
          <a:p>
            <a:pPr indent="0" marL="0">
              <a:buNone/>
            </a:pPr>
            <a:r>
              <a:rPr lang="en-US" sz="1250" i="1" dirty="0">
                <a:solidFill>
                  <a:srgbClr val="5A6B6E"/>
                </a:solidFill>
                <a:latin typeface="Georgia" pitchFamily="34" charset="0"/>
                <a:ea typeface="Georgia" pitchFamily="34" charset="-122"/>
                <a:cs typeface="Georgia" pitchFamily="34" charset="-120"/>
              </a:rPr>
              <a:t>A system that both makes the forecast and marks its own homework has no audit value. Splitting them means the scoreboard survives a change of model.</a:t>
            </a:r>
            <a:endParaRPr lang="en-US" sz="1250" dirty="0"/>
          </a:p>
        </p:txBody>
      </p:sp>
      <p:sp>
        <p:nvSpPr>
          <p:cNvPr id="13" name="Text 11"/>
          <p:cNvSpPr/>
          <p:nvPr/>
        </p:nvSpPr>
        <p:spPr>
          <a:xfrm>
            <a:off x="658368" y="6382512"/>
            <a:ext cx="5486400" cy="237744"/>
          </a:xfrm>
          <a:prstGeom prst="rect">
            <a:avLst/>
          </a:prstGeom>
          <a:noFill/>
          <a:ln/>
        </p:spPr>
        <p:txBody>
          <a:bodyPr wrap="square" rtlCol="0" anchor="ctr"/>
          <a:lstStyle/>
          <a:p>
            <a:pPr indent="0" marL="0">
              <a:buNone/>
            </a:pPr>
            <a:r>
              <a:rPr lang="en-US" sz="900" dirty="0">
                <a:solidFill>
                  <a:srgbClr val="8A9A9C"/>
                </a:solidFill>
                <a:latin typeface="Segoe UI" pitchFamily="34" charset="0"/>
                <a:ea typeface="Segoe UI" pitchFamily="34" charset="-122"/>
                <a:cs typeface="Segoe UI" pitchFamily="34" charset="-120"/>
              </a:rPr>
              <a:t>ANTON by openEXPERT — Markets pillar</a:t>
            </a:r>
            <a:endParaRPr lang="en-US" sz="900" dirty="0"/>
          </a:p>
        </p:txBody>
      </p:sp>
      <p:sp>
        <p:nvSpPr>
          <p:cNvPr id="14" name="Text 12"/>
          <p:cNvSpPr/>
          <p:nvPr/>
        </p:nvSpPr>
        <p:spPr>
          <a:xfrm>
            <a:off x="10981944" y="6382512"/>
            <a:ext cx="548640" cy="237744"/>
          </a:xfrm>
          <a:prstGeom prst="rect">
            <a:avLst/>
          </a:prstGeom>
          <a:noFill/>
          <a:ln/>
        </p:spPr>
        <p:txBody>
          <a:bodyPr wrap="square" rtlCol="0" anchor="ctr"/>
          <a:lstStyle/>
          <a:p>
            <a:pPr algn="r" indent="0" marL="0">
              <a:buNone/>
            </a:pPr>
            <a:r>
              <a:rPr lang="en-US" sz="900" dirty="0">
                <a:solidFill>
                  <a:srgbClr val="8A9A9C"/>
                </a:solidFill>
                <a:latin typeface="Consolas" pitchFamily="34" charset="0"/>
                <a:ea typeface="Consolas" pitchFamily="34" charset="-122"/>
                <a:cs typeface="Consola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B"/>
        </a:solidFill>
      </p:bgPr>
    </p:bg>
    <p:spTree>
      <p:nvGrpSpPr>
        <p:cNvPr id="1" name=""/>
        <p:cNvGrpSpPr/>
        <p:nvPr/>
      </p:nvGrpSpPr>
      <p:grpSpPr>
        <a:xfrm>
          <a:off x="0" y="0"/>
          <a:ext cx="0" cy="0"/>
          <a:chOff x="0" y="0"/>
          <a:chExt cx="0" cy="0"/>
        </a:xfrm>
      </p:grpSpPr>
      <p:sp>
        <p:nvSpPr>
          <p:cNvPr id="2" name="Text 0"/>
          <p:cNvSpPr/>
          <p:nvPr/>
        </p:nvSpPr>
        <p:spPr>
          <a:xfrm>
            <a:off x="658368" y="384048"/>
            <a:ext cx="10872216" cy="237744"/>
          </a:xfrm>
          <a:prstGeom prst="rect">
            <a:avLst/>
          </a:prstGeom>
          <a:noFill/>
          <a:ln/>
        </p:spPr>
        <p:txBody>
          <a:bodyPr wrap="square" rtlCol="0" anchor="ctr"/>
          <a:lstStyle/>
          <a:p>
            <a:pPr indent="0" marL="0">
              <a:buNone/>
            </a:pPr>
            <a:r>
              <a:rPr lang="en-US" sz="1000" b="1" spc="160" kern="0" dirty="0">
                <a:solidFill>
                  <a:srgbClr val="5A6B6E"/>
                </a:solidFill>
                <a:latin typeface="Segoe UI" pitchFamily="34" charset="0"/>
                <a:ea typeface="Segoe UI" pitchFamily="34" charset="-122"/>
                <a:cs typeface="Segoe UI" pitchFamily="34" charset="-120"/>
              </a:rPr>
              <a:t>METHODS</a:t>
            </a:r>
            <a:endParaRPr lang="en-US" sz="1000" dirty="0"/>
          </a:p>
        </p:txBody>
      </p:sp>
      <p:sp>
        <p:nvSpPr>
          <p:cNvPr id="3" name="Text 1"/>
          <p:cNvSpPr/>
          <p:nvPr/>
        </p:nvSpPr>
        <p:spPr>
          <a:xfrm>
            <a:off x="658368" y="658368"/>
            <a:ext cx="10872216" cy="658368"/>
          </a:xfrm>
          <a:prstGeom prst="rect">
            <a:avLst/>
          </a:prstGeom>
          <a:noFill/>
          <a:ln/>
        </p:spPr>
        <p:txBody>
          <a:bodyPr wrap="square" rtlCol="0" anchor="ctr"/>
          <a:lstStyle/>
          <a:p>
            <a:pPr indent="0" marL="0">
              <a:buNone/>
            </a:pPr>
            <a:r>
              <a:rPr lang="en-US" sz="2700" b="1" dirty="0">
                <a:solidFill>
                  <a:srgbClr val="0C1719"/>
                </a:solidFill>
                <a:latin typeface="Segoe UI" pitchFamily="34" charset="0"/>
                <a:ea typeface="Segoe UI" pitchFamily="34" charset="-122"/>
                <a:cs typeface="Segoe UI" pitchFamily="34" charset="-120"/>
              </a:rPr>
              <a:t>A deterministic computation layer the model cannot reach into</a:t>
            </a:r>
            <a:endParaRPr lang="en-US" sz="2700" dirty="0"/>
          </a:p>
        </p:txBody>
      </p:sp>
      <p:sp>
        <p:nvSpPr>
          <p:cNvPr id="4" name="Shape 2"/>
          <p:cNvSpPr/>
          <p:nvPr/>
        </p:nvSpPr>
        <p:spPr>
          <a:xfrm>
            <a:off x="658368" y="1389888"/>
            <a:ext cx="10872216" cy="10973"/>
          </a:xfrm>
          <a:prstGeom prst="rect">
            <a:avLst/>
          </a:prstGeom>
          <a:solidFill>
            <a:srgbClr val="DCE4E4"/>
          </a:solidFill>
          <a:ln w="12700">
            <a:solidFill>
              <a:srgbClr val="333333"/>
            </a:solidFill>
            <a:prstDash val="solid"/>
          </a:ln>
        </p:spPr>
      </p:sp>
      <p:sp>
        <p:nvSpPr>
          <p:cNvPr id="5" name="Text 3"/>
          <p:cNvSpPr/>
          <p:nvPr/>
        </p:nvSpPr>
        <p:spPr>
          <a:xfrm>
            <a:off x="658368" y="1609344"/>
            <a:ext cx="10872216" cy="457200"/>
          </a:xfrm>
          <a:prstGeom prst="rect">
            <a:avLst/>
          </a:prstGeom>
          <a:noFill/>
          <a:ln/>
        </p:spPr>
        <p:txBody>
          <a:bodyPr wrap="square" rtlCol="0" anchor="ctr"/>
          <a:lstStyle/>
          <a:p>
            <a:pPr indent="0" marL="0">
              <a:buNone/>
            </a:pPr>
            <a:r>
              <a:rPr lang="en-US" sz="1300" dirty="0">
                <a:solidFill>
                  <a:srgbClr val="5A6B6E"/>
                </a:solidFill>
                <a:latin typeface="Georgia" pitchFamily="34" charset="0"/>
                <a:ea typeface="Georgia" pitchFamily="34" charset="-122"/>
                <a:cs typeface="Georgia" pitchFamily="34" charset="-120"/>
              </a:rPr>
              <a:t>Thirty-nine quantitative routines run as sandboxed Python against the price spine. The model requests a computation and reads its result; it never performs the arithmetic.</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 y="2139696"/>
          <a:ext cx="10872216" cy="914400"/>
        </p:xfrm>
        <a:graphic>
          <a:graphicData uri="http://schemas.openxmlformats.org/drawingml/2006/table">
            <a:tbl>
              <a:tblPr/>
              <a:tblGrid>
                <a:gridCol w="2743200"/>
                <a:gridCol w="4846320"/>
                <a:gridCol w="822960"/>
                <a:gridCol w="1545336"/>
              </a:tblGrid>
              <a:tr h="301752">
                <a:tc>
                  <a:txBody>
                    <a:bodyPr/>
                    <a:lstStyle/>
                    <a:p>
                      <a:pPr indent="0" marL="0">
                        <a:buNone/>
                      </a:pPr>
                      <a:r>
                        <a:rPr lang="en-US" sz="1100" b="1" dirty="0">
                          <a:solidFill>
                            <a:srgbClr val="06584C"/>
                          </a:solidFill>
                          <a:latin typeface="Segoe UI" pitchFamily="34" charset="0"/>
                          <a:ea typeface="Segoe UI" pitchFamily="34" charset="-122"/>
                          <a:cs typeface="Segoe UI" pitchFamily="34" charset="-120"/>
                        </a:rPr>
                        <a:t>Routine</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c>
                  <a:txBody>
                    <a:bodyPr/>
                    <a:lstStyle/>
                    <a:p>
                      <a:pPr indent="0" marL="0">
                        <a:buNone/>
                      </a:pPr>
                      <a:r>
                        <a:rPr lang="en-US" sz="1100" b="1" dirty="0">
                          <a:solidFill>
                            <a:srgbClr val="06584C"/>
                          </a:solidFill>
                          <a:latin typeface="Segoe UI" pitchFamily="34" charset="0"/>
                          <a:ea typeface="Segoe UI" pitchFamily="34" charset="-122"/>
                          <a:cs typeface="Segoe UI" pitchFamily="34" charset="-120"/>
                        </a:rPr>
                        <a:t>Computes</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c>
                  <a:txBody>
                    <a:bodyPr/>
                    <a:lstStyle/>
                    <a:p>
                      <a:pPr algn="r" indent="0" marL="0">
                        <a:buNone/>
                      </a:pPr>
                      <a:r>
                        <a:rPr lang="en-US" sz="1100" b="1" dirty="0">
                          <a:solidFill>
                            <a:srgbClr val="06584C"/>
                          </a:solidFill>
                          <a:latin typeface="Segoe UI" pitchFamily="34" charset="0"/>
                          <a:ea typeface="Segoe UI" pitchFamily="34" charset="-122"/>
                          <a:cs typeface="Segoe UI" pitchFamily="34" charset="-120"/>
                        </a:rPr>
                        <a:t>Runs</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c>
                  <a:txBody>
                    <a:bodyPr/>
                    <a:lstStyle/>
                    <a:p>
                      <a:pPr indent="0" marL="0">
                        <a:buNone/>
                      </a:pPr>
                      <a:r>
                        <a:rPr lang="en-US" sz="1100" b="1" dirty="0">
                          <a:solidFill>
                            <a:srgbClr val="06584C"/>
                          </a:solidFill>
                          <a:latin typeface="Segoe UI" pitchFamily="34" charset="0"/>
                          <a:ea typeface="Segoe UI" pitchFamily="34" charset="-122"/>
                          <a:cs typeface="Segoe UI" pitchFamily="34" charset="-120"/>
                        </a:rPr>
                        <a:t>State</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r>
              <a:tr h="301752">
                <a:tc>
                  <a:txBody>
                    <a:bodyPr/>
                    <a:lstStyle/>
                    <a:p>
                      <a:pPr indent="0" marL="0">
                        <a:buNone/>
                      </a:pPr>
                      <a:r>
                        <a:rPr lang="en-US" sz="1050" dirty="0">
                          <a:solidFill>
                            <a:srgbClr val="0C1719"/>
                          </a:solidFill>
                          <a:latin typeface="Consolas" pitchFamily="34" charset="0"/>
                          <a:ea typeface="Consolas" pitchFamily="34" charset="-122"/>
                          <a:cs typeface="Consolas" pitchFamily="34" charset="-120"/>
                        </a:rPr>
                        <a:t>momentum_indicators</a:t>
                      </a:r>
                      <a:endParaRPr lang="en-US" sz="105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RSI, MACD, Stochastic, Williams %R, CCI</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104</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b="1" dirty="0">
                          <a:solidFill>
                            <a:srgbClr val="06584C"/>
                          </a:solidFill>
                          <a:latin typeface="Georgia" pitchFamily="34" charset="0"/>
                          <a:ea typeface="Georgia" pitchFamily="34" charset="-122"/>
                          <a:cs typeface="Georgia" pitchFamily="34" charset="-120"/>
                        </a:rPr>
                        <a:t>In loop</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01752">
                <a:tc>
                  <a:txBody>
                    <a:bodyPr/>
                    <a:lstStyle/>
                    <a:p>
                      <a:pPr indent="0" marL="0">
                        <a:buNone/>
                      </a:pPr>
                      <a:r>
                        <a:rPr lang="en-US" sz="1050" dirty="0">
                          <a:solidFill>
                            <a:srgbClr val="0C1719"/>
                          </a:solidFill>
                          <a:latin typeface="Consolas" pitchFamily="34" charset="0"/>
                          <a:ea typeface="Consolas" pitchFamily="34" charset="-122"/>
                          <a:cs typeface="Consolas" pitchFamily="34" charset="-120"/>
                        </a:rPr>
                        <a:t>garch_volatility</a:t>
                      </a:r>
                      <a:endParaRPr lang="en-US" sz="105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GARCH(1,1) MLE — feeds prediction confidence</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b="1" dirty="0">
                          <a:solidFill>
                            <a:srgbClr val="06584C"/>
                          </a:solidFill>
                          <a:latin typeface="Georgia" pitchFamily="34" charset="0"/>
                          <a:ea typeface="Georgia" pitchFamily="34" charset="-122"/>
                          <a:cs typeface="Georgia" pitchFamily="34" charset="-120"/>
                        </a:rPr>
                        <a:t>In loop</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01752">
                <a:tc>
                  <a:txBody>
                    <a:bodyPr/>
                    <a:lstStyle/>
                    <a:p>
                      <a:pPr indent="0" marL="0">
                        <a:buNone/>
                      </a:pPr>
                      <a:r>
                        <a:rPr lang="en-US" sz="1050" dirty="0">
                          <a:solidFill>
                            <a:srgbClr val="0C1719"/>
                          </a:solidFill>
                          <a:latin typeface="Consolas" pitchFamily="34" charset="0"/>
                          <a:ea typeface="Consolas" pitchFamily="34" charset="-122"/>
                          <a:cs typeface="Consolas" pitchFamily="34" charset="-120"/>
                        </a:rPr>
                        <a:t>kelly_criterion</a:t>
                      </a:r>
                      <a:endParaRPr lang="en-US" sz="105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Optimal sizing from demonstrated edge</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3</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b="1" dirty="0">
                          <a:solidFill>
                            <a:srgbClr val="06584C"/>
                          </a:solidFill>
                          <a:latin typeface="Georgia" pitchFamily="34" charset="0"/>
                          <a:ea typeface="Georgia" pitchFamily="34" charset="-122"/>
                          <a:cs typeface="Georgia" pitchFamily="34" charset="-120"/>
                        </a:rPr>
                        <a:t>In loop</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01752">
                <a:tc>
                  <a:txBody>
                    <a:bodyPr/>
                    <a:lstStyle/>
                    <a:p>
                      <a:pPr indent="0" marL="0">
                        <a:buNone/>
                      </a:pPr>
                      <a:r>
                        <a:rPr lang="en-US" sz="1050" dirty="0">
                          <a:solidFill>
                            <a:srgbClr val="0C1719"/>
                          </a:solidFill>
                          <a:latin typeface="Consolas" pitchFamily="34" charset="0"/>
                          <a:ea typeface="Consolas" pitchFamily="34" charset="-122"/>
                          <a:cs typeface="Consolas" pitchFamily="34" charset="-120"/>
                        </a:rPr>
                        <a:t>signal_weight_optimizer</a:t>
                      </a:r>
                      <a:endParaRPr lang="en-US" sz="105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Re-weights signals against realised accuracy</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88</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b="1" dirty="0">
                          <a:solidFill>
                            <a:srgbClr val="06584C"/>
                          </a:solidFill>
                          <a:latin typeface="Georgia" pitchFamily="34" charset="0"/>
                          <a:ea typeface="Georgia" pitchFamily="34" charset="-122"/>
                          <a:cs typeface="Georgia" pitchFamily="34" charset="-120"/>
                        </a:rPr>
                        <a:t>In loop</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01752">
                <a:tc>
                  <a:txBody>
                    <a:bodyPr/>
                    <a:lstStyle/>
                    <a:p>
                      <a:pPr indent="0" marL="0">
                        <a:buNone/>
                      </a:pPr>
                      <a:r>
                        <a:rPr lang="en-US" sz="1050" dirty="0">
                          <a:solidFill>
                            <a:srgbClr val="0C1719"/>
                          </a:solidFill>
                          <a:latin typeface="Consolas" pitchFamily="34" charset="0"/>
                          <a:ea typeface="Consolas" pitchFamily="34" charset="-122"/>
                          <a:cs typeface="Consolas" pitchFamily="34" charset="-120"/>
                        </a:rPr>
                        <a:t>confidence_calibration</a:t>
                      </a:r>
                      <a:endParaRPr lang="en-US" sz="105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Are stated probabilities accurate?</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89</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b="1" dirty="0">
                          <a:solidFill>
                            <a:srgbClr val="06584C"/>
                          </a:solidFill>
                          <a:latin typeface="Georgia" pitchFamily="34" charset="0"/>
                          <a:ea typeface="Georgia" pitchFamily="34" charset="-122"/>
                          <a:cs typeface="Georgia" pitchFamily="34" charset="-120"/>
                        </a:rPr>
                        <a:t>In loop</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01752">
                <a:tc>
                  <a:txBody>
                    <a:bodyPr/>
                    <a:lstStyle/>
                    <a:p>
                      <a:pPr indent="0" marL="0">
                        <a:buNone/>
                      </a:pPr>
                      <a:r>
                        <a:rPr lang="en-US" sz="1050" dirty="0">
                          <a:solidFill>
                            <a:srgbClr val="0C1719"/>
                          </a:solidFill>
                          <a:latin typeface="Consolas" pitchFamily="34" charset="0"/>
                          <a:ea typeface="Consolas" pitchFamily="34" charset="-122"/>
                          <a:cs typeface="Consolas" pitchFamily="34" charset="-120"/>
                        </a:rPr>
                        <a:t>monte_carlo_simulation</a:t>
                      </a:r>
                      <a:endParaRPr lang="en-US" sz="105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Portfolio return paths with intervals</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1</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8A6010"/>
                          </a:solidFill>
                          <a:latin typeface="Georgia" pitchFamily="34" charset="0"/>
                          <a:ea typeface="Georgia" pitchFamily="34" charset="-122"/>
                          <a:cs typeface="Georgia" pitchFamily="34" charset="-120"/>
                        </a:rPr>
                        <a:t>Validated</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01752">
                <a:tc>
                  <a:txBody>
                    <a:bodyPr/>
                    <a:lstStyle/>
                    <a:p>
                      <a:pPr indent="0" marL="0">
                        <a:buNone/>
                      </a:pPr>
                      <a:r>
                        <a:rPr lang="en-US" sz="1050" dirty="0">
                          <a:solidFill>
                            <a:srgbClr val="0C1719"/>
                          </a:solidFill>
                          <a:latin typeface="Consolas" pitchFamily="34" charset="0"/>
                          <a:ea typeface="Consolas" pitchFamily="34" charset="-122"/>
                          <a:cs typeface="Consolas" pitchFamily="34" charset="-120"/>
                        </a:rPr>
                        <a:t>var_calculation</a:t>
                      </a:r>
                      <a:endParaRPr lang="en-US" sz="105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VaR — historical, parametric, Monte Carlo</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6</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8A6010"/>
                          </a:solidFill>
                          <a:latin typeface="Georgia" pitchFamily="34" charset="0"/>
                          <a:ea typeface="Georgia" pitchFamily="34" charset="-122"/>
                          <a:cs typeface="Georgia" pitchFamily="34" charset="-120"/>
                        </a:rPr>
                        <a:t>Validated</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01752">
                <a:tc>
                  <a:txBody>
                    <a:bodyPr/>
                    <a:lstStyle/>
                    <a:p>
                      <a:pPr indent="0" marL="0">
                        <a:buNone/>
                      </a:pPr>
                      <a:r>
                        <a:rPr lang="en-US" sz="1050" dirty="0">
                          <a:solidFill>
                            <a:srgbClr val="0C1719"/>
                          </a:solidFill>
                          <a:latin typeface="Consolas" pitchFamily="34" charset="0"/>
                          <a:ea typeface="Consolas" pitchFamily="34" charset="-122"/>
                          <a:cs typeface="Consolas" pitchFamily="34" charset="-120"/>
                        </a:rPr>
                        <a:t>black_litterman</a:t>
                      </a:r>
                      <a:endParaRPr lang="en-US" sz="105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CAPM equilibrium + views, Bayesian update</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9E3F37"/>
                          </a:solidFill>
                          <a:latin typeface="Georgia" pitchFamily="34" charset="0"/>
                          <a:ea typeface="Georgia" pitchFamily="34" charset="-122"/>
                          <a:cs typeface="Georgia" pitchFamily="34" charset="-120"/>
                        </a:rPr>
                        <a:t>Untested</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bl>
          </a:graphicData>
        </a:graphic>
      </p:graphicFrame>
      <p:sp>
        <p:nvSpPr>
          <p:cNvPr id="7" name="Text 4"/>
          <p:cNvSpPr/>
          <p:nvPr/>
        </p:nvSpPr>
        <p:spPr>
          <a:xfrm>
            <a:off x="658368" y="5029200"/>
            <a:ext cx="10872216" cy="548640"/>
          </a:xfrm>
          <a:prstGeom prst="rect">
            <a:avLst/>
          </a:prstGeom>
          <a:noFill/>
          <a:ln/>
        </p:spPr>
        <p:txBody>
          <a:bodyPr wrap="square" rtlCol="0" anchor="ctr"/>
          <a:lstStyle/>
          <a:p>
            <a:pPr indent="0" marL="0">
              <a:lnSpc>
                <a:spcPct val="120000"/>
              </a:lnSpc>
              <a:buNone/>
            </a:pPr>
            <a:r>
              <a:rPr lang="en-US" sz="1100" dirty="0">
                <a:solidFill>
                  <a:srgbClr val="8A9A9C"/>
                </a:solidFill>
                <a:latin typeface="Georgia" pitchFamily="34" charset="0"/>
                <a:ea typeface="Georgia" pitchFamily="34" charset="-122"/>
                <a:cs typeface="Georgia" pitchFamily="34" charset="-120"/>
              </a:rPr>
              <a:t>"In loop" means scheduled against live data. "Validated" means it ran correctly once and is callable, but is not wired into prediction generation. Presenting the shelf as the engine would be the overclaim this pillar exists to make impossible.</a:t>
            </a:r>
            <a:endParaRPr lang="en-US" sz="1100" dirty="0"/>
          </a:p>
        </p:txBody>
      </p:sp>
      <p:sp>
        <p:nvSpPr>
          <p:cNvPr id="8" name="Text 5"/>
          <p:cNvSpPr/>
          <p:nvPr/>
        </p:nvSpPr>
        <p:spPr>
          <a:xfrm>
            <a:off x="658368" y="6382512"/>
            <a:ext cx="5486400" cy="237744"/>
          </a:xfrm>
          <a:prstGeom prst="rect">
            <a:avLst/>
          </a:prstGeom>
          <a:noFill/>
          <a:ln/>
        </p:spPr>
        <p:txBody>
          <a:bodyPr wrap="square" rtlCol="0" anchor="ctr"/>
          <a:lstStyle/>
          <a:p>
            <a:pPr indent="0" marL="0">
              <a:buNone/>
            </a:pPr>
            <a:r>
              <a:rPr lang="en-US" sz="900" dirty="0">
                <a:solidFill>
                  <a:srgbClr val="8A9A9C"/>
                </a:solidFill>
                <a:latin typeface="Segoe UI" pitchFamily="34" charset="0"/>
                <a:ea typeface="Segoe UI" pitchFamily="34" charset="-122"/>
                <a:cs typeface="Segoe UI" pitchFamily="34" charset="-120"/>
              </a:rPr>
              <a:t>ANTON by openEXPERT — Markets pillar</a:t>
            </a:r>
            <a:endParaRPr lang="en-US" sz="900" dirty="0"/>
          </a:p>
        </p:txBody>
      </p:sp>
      <p:sp>
        <p:nvSpPr>
          <p:cNvPr id="9" name="Text 6"/>
          <p:cNvSpPr/>
          <p:nvPr/>
        </p:nvSpPr>
        <p:spPr>
          <a:xfrm>
            <a:off x="10981944" y="6382512"/>
            <a:ext cx="548640" cy="237744"/>
          </a:xfrm>
          <a:prstGeom prst="rect">
            <a:avLst/>
          </a:prstGeom>
          <a:noFill/>
          <a:ln/>
        </p:spPr>
        <p:txBody>
          <a:bodyPr wrap="square" rtlCol="0" anchor="ctr"/>
          <a:lstStyle/>
          <a:p>
            <a:pPr algn="r" indent="0" marL="0">
              <a:buNone/>
            </a:pPr>
            <a:r>
              <a:rPr lang="en-US" sz="900" dirty="0">
                <a:solidFill>
                  <a:srgbClr val="8A9A9C"/>
                </a:solidFill>
                <a:latin typeface="Consolas" pitchFamily="34" charset="0"/>
                <a:ea typeface="Consolas" pitchFamily="34" charset="-122"/>
                <a:cs typeface="Consola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B"/>
        </a:solidFill>
      </p:bgPr>
    </p:bg>
    <p:spTree>
      <p:nvGrpSpPr>
        <p:cNvPr id="1" name=""/>
        <p:cNvGrpSpPr/>
        <p:nvPr/>
      </p:nvGrpSpPr>
      <p:grpSpPr>
        <a:xfrm>
          <a:off x="0" y="0"/>
          <a:ext cx="0" cy="0"/>
          <a:chOff x="0" y="0"/>
          <a:chExt cx="0" cy="0"/>
        </a:xfrm>
      </p:grpSpPr>
      <p:sp>
        <p:nvSpPr>
          <p:cNvPr id="2" name="Text 0"/>
          <p:cNvSpPr/>
          <p:nvPr/>
        </p:nvSpPr>
        <p:spPr>
          <a:xfrm>
            <a:off x="658368" y="384048"/>
            <a:ext cx="10872216" cy="237744"/>
          </a:xfrm>
          <a:prstGeom prst="rect">
            <a:avLst/>
          </a:prstGeom>
          <a:noFill/>
          <a:ln/>
        </p:spPr>
        <p:txBody>
          <a:bodyPr wrap="square" rtlCol="0" anchor="ctr"/>
          <a:lstStyle/>
          <a:p>
            <a:pPr indent="0" marL="0">
              <a:buNone/>
            </a:pPr>
            <a:r>
              <a:rPr lang="en-US" sz="1000" b="1" spc="160" kern="0" dirty="0">
                <a:solidFill>
                  <a:srgbClr val="5A6B6E"/>
                </a:solidFill>
                <a:latin typeface="Segoe UI" pitchFamily="34" charset="0"/>
                <a:ea typeface="Segoe UI" pitchFamily="34" charset="-122"/>
                <a:cs typeface="Segoe UI" pitchFamily="34" charset="-120"/>
              </a:rPr>
              <a:t>THE SCOREBOARD</a:t>
            </a:r>
            <a:endParaRPr lang="en-US" sz="1000" dirty="0"/>
          </a:p>
        </p:txBody>
      </p:sp>
      <p:sp>
        <p:nvSpPr>
          <p:cNvPr id="3" name="Text 1"/>
          <p:cNvSpPr/>
          <p:nvPr/>
        </p:nvSpPr>
        <p:spPr>
          <a:xfrm>
            <a:off x="658368" y="658368"/>
            <a:ext cx="10872216" cy="658368"/>
          </a:xfrm>
          <a:prstGeom prst="rect">
            <a:avLst/>
          </a:prstGeom>
          <a:noFill/>
          <a:ln/>
        </p:spPr>
        <p:txBody>
          <a:bodyPr wrap="square" rtlCol="0" anchor="ctr"/>
          <a:lstStyle/>
          <a:p>
            <a:pPr indent="0" marL="0">
              <a:buNone/>
            </a:pPr>
            <a:r>
              <a:rPr lang="en-US" sz="2700" b="1" dirty="0">
                <a:solidFill>
                  <a:srgbClr val="0C1719"/>
                </a:solidFill>
                <a:latin typeface="Segoe UI" pitchFamily="34" charset="0"/>
                <a:ea typeface="Segoe UI" pitchFamily="34" charset="-122"/>
                <a:cs typeface="Segoe UI" pitchFamily="34" charset="-120"/>
              </a:rPr>
              <a:t>What the record actually says</a:t>
            </a:r>
            <a:endParaRPr lang="en-US" sz="2700" dirty="0"/>
          </a:p>
        </p:txBody>
      </p:sp>
      <p:sp>
        <p:nvSpPr>
          <p:cNvPr id="4" name="Shape 2"/>
          <p:cNvSpPr/>
          <p:nvPr/>
        </p:nvSpPr>
        <p:spPr>
          <a:xfrm>
            <a:off x="658368" y="1389888"/>
            <a:ext cx="10872216" cy="10973"/>
          </a:xfrm>
          <a:prstGeom prst="rect">
            <a:avLst/>
          </a:prstGeom>
          <a:solidFill>
            <a:srgbClr val="DCE4E4"/>
          </a:solidFill>
          <a:ln w="12700">
            <a:solidFill>
              <a:srgbClr val="333333"/>
            </a:solidFill>
            <a:prstDash val="solid"/>
          </a:ln>
        </p:spPr>
      </p:sp>
      <p:sp>
        <p:nvSpPr>
          <p:cNvPr id="5" name="Text 3"/>
          <p:cNvSpPr/>
          <p:nvPr/>
        </p:nvSpPr>
        <p:spPr>
          <a:xfrm>
            <a:off x="658368" y="1609344"/>
            <a:ext cx="10872216" cy="329184"/>
          </a:xfrm>
          <a:prstGeom prst="rect">
            <a:avLst/>
          </a:prstGeom>
          <a:noFill/>
          <a:ln/>
        </p:spPr>
        <p:txBody>
          <a:bodyPr wrap="square" rtlCol="0" anchor="ctr"/>
          <a:lstStyle/>
          <a:p>
            <a:pPr indent="0" marL="0">
              <a:buNone/>
            </a:pPr>
            <a:r>
              <a:rPr lang="en-US" sz="1300" dirty="0">
                <a:solidFill>
                  <a:srgbClr val="5A6B6E"/>
                </a:solidFill>
                <a:latin typeface="Georgia" pitchFamily="34" charset="0"/>
                <a:ea typeface="Georgia" pitchFamily="34" charset="-122"/>
                <a:cs typeface="Georgia" pitchFamily="34" charset="-120"/>
              </a:rPr>
              <a:t>Live figures, not a backtest — presented as the system reports them, including where they are unflattering. Corrected 23 Aug 2026: Brier had been scored against a partial-credit grade rather than the binary outcome, which understated it. All figures are post-correction.</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8368" y="2103120"/>
          <a:ext cx="10872216" cy="914400"/>
        </p:xfrm>
        <a:graphic>
          <a:graphicData uri="http://schemas.openxmlformats.org/drawingml/2006/table">
            <a:tbl>
              <a:tblPr/>
              <a:tblGrid>
                <a:gridCol w="3291840"/>
                <a:gridCol w="1188720"/>
                <a:gridCol w="1188720"/>
                <a:gridCol w="1188720"/>
                <a:gridCol w="4014216"/>
              </a:tblGrid>
              <a:tr h="329184">
                <a:tc>
                  <a:txBody>
                    <a:bodyPr/>
                    <a:lstStyle/>
                    <a:p>
                      <a:pPr indent="0" marL="0">
                        <a:buNone/>
                      </a:pPr>
                      <a:r>
                        <a:rPr lang="en-US" sz="1100" b="1" dirty="0">
                          <a:solidFill>
                            <a:srgbClr val="06584C"/>
                          </a:solidFill>
                          <a:latin typeface="Segoe UI" pitchFamily="34" charset="0"/>
                          <a:ea typeface="Segoe UI" pitchFamily="34" charset="-122"/>
                          <a:cs typeface="Segoe UI" pitchFamily="34" charset="-120"/>
                        </a:rPr>
                        <a:t>Horizon band</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c>
                  <a:txBody>
                    <a:bodyPr/>
                    <a:lstStyle/>
                    <a:p>
                      <a:pPr algn="r" indent="0" marL="0">
                        <a:buNone/>
                      </a:pPr>
                      <a:r>
                        <a:rPr lang="en-US" sz="1100" b="1" dirty="0">
                          <a:solidFill>
                            <a:srgbClr val="06584C"/>
                          </a:solidFill>
                          <a:latin typeface="Segoe UI" pitchFamily="34" charset="0"/>
                          <a:ea typeface="Segoe UI" pitchFamily="34" charset="-122"/>
                          <a:cs typeface="Segoe UI" pitchFamily="34" charset="-120"/>
                        </a:rPr>
                        <a:t>Resolved</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c>
                  <a:txBody>
                    <a:bodyPr/>
                    <a:lstStyle/>
                    <a:p>
                      <a:pPr algn="r" indent="0" marL="0">
                        <a:buNone/>
                      </a:pPr>
                      <a:r>
                        <a:rPr lang="en-US" sz="1100" b="1" dirty="0">
                          <a:solidFill>
                            <a:srgbClr val="06584C"/>
                          </a:solidFill>
                          <a:latin typeface="Segoe UI" pitchFamily="34" charset="0"/>
                          <a:ea typeface="Segoe UI" pitchFamily="34" charset="-122"/>
                          <a:cs typeface="Segoe UI" pitchFamily="34" charset="-120"/>
                        </a:rPr>
                        <a:t>Hit rate</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c>
                  <a:txBody>
                    <a:bodyPr/>
                    <a:lstStyle/>
                    <a:p>
                      <a:pPr algn="r" indent="0" marL="0">
                        <a:buNone/>
                      </a:pPr>
                      <a:r>
                        <a:rPr lang="en-US" sz="1100" b="1" dirty="0">
                          <a:solidFill>
                            <a:srgbClr val="06584C"/>
                          </a:solidFill>
                          <a:latin typeface="Segoe UI" pitchFamily="34" charset="0"/>
                          <a:ea typeface="Segoe UI" pitchFamily="34" charset="-122"/>
                          <a:cs typeface="Segoe UI" pitchFamily="34" charset="-120"/>
                        </a:rPr>
                        <a:t>Brier</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c>
                  <a:txBody>
                    <a:bodyPr/>
                    <a:lstStyle/>
                    <a:p>
                      <a:pPr indent="0" marL="0">
                        <a:buNone/>
                      </a:pPr>
                      <a:r>
                        <a:rPr lang="en-US" sz="1100" b="1" dirty="0">
                          <a:solidFill>
                            <a:srgbClr val="06584C"/>
                          </a:solidFill>
                          <a:latin typeface="Segoe UI" pitchFamily="34" charset="0"/>
                          <a:ea typeface="Segoe UI" pitchFamily="34" charset="-122"/>
                          <a:cs typeface="Segoe UI" pitchFamily="34" charset="-120"/>
                        </a:rPr>
                        <a:t>Read</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r>
              <a:tr h="329184">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Tactical — 1 to 3 days</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34</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52.9%</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0.245</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Best of three — level with chance</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29184">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Swing — 7 to 21 days</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63</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22.2%</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0.393</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b="1" dirty="0">
                          <a:solidFill>
                            <a:srgbClr val="9E3F37"/>
                          </a:solidFill>
                          <a:latin typeface="Georgia" pitchFamily="34" charset="0"/>
                          <a:ea typeface="Georgia" pitchFamily="34" charset="-122"/>
                          <a:cs typeface="Georgia" pitchFamily="34" charset="-120"/>
                        </a:rPr>
                        <a:t>Worse than chance</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29184">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Position — 30 to 90 days</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12</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41.7%</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0.280</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Thin sample</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bl>
          </a:graphicData>
        </a:graphic>
      </p:graphicFrame>
      <p:sp>
        <p:nvSpPr>
          <p:cNvPr id="7" name="Text 4"/>
          <p:cNvSpPr/>
          <p:nvPr/>
        </p:nvSpPr>
        <p:spPr>
          <a:xfrm>
            <a:off x="658368" y="3584448"/>
            <a:ext cx="10872216" cy="548640"/>
          </a:xfrm>
          <a:prstGeom prst="rect">
            <a:avLst/>
          </a:prstGeom>
          <a:noFill/>
          <a:ln/>
        </p:spPr>
        <p:txBody>
          <a:bodyPr wrap="square" rtlCol="0" anchor="ctr"/>
          <a:lstStyle/>
          <a:p>
            <a:pPr indent="0" marL="0">
              <a:lnSpc>
                <a:spcPct val="120000"/>
              </a:lnSpc>
              <a:buNone/>
            </a:pPr>
            <a:r>
              <a:rPr lang="en-US" sz="1100" dirty="0">
                <a:solidFill>
                  <a:srgbClr val="8A9A9C"/>
                </a:solidFill>
                <a:latin typeface="Georgia" pitchFamily="34" charset="0"/>
                <a:ea typeface="Georgia" pitchFamily="34" charset="-122"/>
                <a:cs typeface="Georgia" pitchFamily="34" charset="-120"/>
              </a:rPr>
              <a:t>Brier: mean squared error between stated confidence and outcome. Lower is better; 0.25 is a coin flip called at 50%. All 126 resolved predictions with a score, as at 23 Aug 2026 — no band meaningfully beats a coin flip (tactical edges it by 0.005 on n=34, which is noise). The swing band is materially worse than chance and the system says so — it is now the primary target of the investigation loop.</a:t>
            </a:r>
            <a:endParaRPr lang="en-US" sz="1100" dirty="0"/>
          </a:p>
        </p:txBody>
      </p:sp>
      <p:sp>
        <p:nvSpPr>
          <p:cNvPr id="8" name="Shape 5"/>
          <p:cNvSpPr/>
          <p:nvPr/>
        </p:nvSpPr>
        <p:spPr>
          <a:xfrm>
            <a:off x="658368" y="4224528"/>
            <a:ext cx="5298948" cy="1097280"/>
          </a:xfrm>
          <a:prstGeom prst="rect">
            <a:avLst/>
          </a:prstGeom>
          <a:solidFill>
            <a:srgbClr val="FFFFFF"/>
          </a:solidFill>
          <a:ln w="9525">
            <a:solidFill>
              <a:srgbClr val="DCE4E4"/>
            </a:solidFill>
            <a:prstDash val="solid"/>
          </a:ln>
        </p:spPr>
      </p:sp>
      <p:sp>
        <p:nvSpPr>
          <p:cNvPr id="9" name="Text 6"/>
          <p:cNvSpPr/>
          <p:nvPr/>
        </p:nvSpPr>
        <p:spPr>
          <a:xfrm>
            <a:off x="822960" y="4352544"/>
            <a:ext cx="4969764" cy="219456"/>
          </a:xfrm>
          <a:prstGeom prst="rect">
            <a:avLst/>
          </a:prstGeom>
          <a:noFill/>
          <a:ln/>
        </p:spPr>
        <p:txBody>
          <a:bodyPr wrap="square" rtlCol="0" anchor="ctr"/>
          <a:lstStyle/>
          <a:p>
            <a:pPr indent="0" marL="0">
              <a:buNone/>
            </a:pPr>
            <a:r>
              <a:rPr lang="en-US" sz="850" b="1" spc="120" kern="0" dirty="0">
                <a:solidFill>
                  <a:srgbClr val="5A6B6E"/>
                </a:solidFill>
                <a:latin typeface="Segoe UI" pitchFamily="34" charset="0"/>
                <a:ea typeface="Segoe UI" pitchFamily="34" charset="-122"/>
                <a:cs typeface="Segoe UI" pitchFamily="34" charset="-120"/>
              </a:rPr>
              <a:t>CURRENT COHORT — SINCE 13 AUG</a:t>
            </a:r>
            <a:endParaRPr lang="en-US" sz="850" dirty="0"/>
          </a:p>
        </p:txBody>
      </p:sp>
      <p:sp>
        <p:nvSpPr>
          <p:cNvPr id="10" name="Text 7"/>
          <p:cNvSpPr/>
          <p:nvPr/>
        </p:nvSpPr>
        <p:spPr>
          <a:xfrm>
            <a:off x="822960" y="4572000"/>
            <a:ext cx="4969764" cy="420624"/>
          </a:xfrm>
          <a:prstGeom prst="rect">
            <a:avLst/>
          </a:prstGeom>
          <a:noFill/>
          <a:ln/>
        </p:spPr>
        <p:txBody>
          <a:bodyPr wrap="square" rtlCol="0" anchor="ctr"/>
          <a:lstStyle/>
          <a:p>
            <a:pPr indent="0" marL="0">
              <a:buNone/>
            </a:pPr>
            <a:r>
              <a:rPr lang="en-US" sz="1600" b="1" dirty="0">
                <a:solidFill>
                  <a:srgbClr val="0C1719"/>
                </a:solidFill>
                <a:latin typeface="Consolas" pitchFamily="34" charset="0"/>
                <a:ea typeface="Consolas" pitchFamily="34" charset="-122"/>
                <a:cs typeface="Consolas" pitchFamily="34" charset="-120"/>
              </a:rPr>
              <a:t>33 resolved · 54.5%</a:t>
            </a:r>
            <a:endParaRPr lang="en-US" sz="1600" dirty="0"/>
          </a:p>
        </p:txBody>
      </p:sp>
      <p:sp>
        <p:nvSpPr>
          <p:cNvPr id="11" name="Text 8"/>
          <p:cNvSpPr/>
          <p:nvPr/>
        </p:nvSpPr>
        <p:spPr>
          <a:xfrm>
            <a:off x="822960" y="5010912"/>
            <a:ext cx="4969764" cy="329184"/>
          </a:xfrm>
          <a:prstGeom prst="rect">
            <a:avLst/>
          </a:prstGeom>
          <a:noFill/>
          <a:ln/>
        </p:spPr>
        <p:txBody>
          <a:bodyPr wrap="square" rtlCol="0" anchor="ctr"/>
          <a:lstStyle/>
          <a:p>
            <a:pPr indent="0" marL="0">
              <a:buNone/>
            </a:pPr>
            <a:r>
              <a:rPr lang="en-US" sz="1000" dirty="0">
                <a:solidFill>
                  <a:srgbClr val="8A9A9C"/>
                </a:solidFill>
                <a:latin typeface="Georgia" pitchFamily="34" charset="0"/>
                <a:ea typeface="Georgia" pitchFamily="34" charset="-122"/>
                <a:cs typeface="Georgia" pitchFamily="34" charset="-120"/>
              </a:rPr>
              <a:t>Brier 0.244 vs 0.25 for a coin flip — indistinguishable from chance</a:t>
            </a:r>
            <a:endParaRPr lang="en-US" sz="1000" dirty="0"/>
          </a:p>
        </p:txBody>
      </p:sp>
      <p:sp>
        <p:nvSpPr>
          <p:cNvPr id="12" name="Shape 9"/>
          <p:cNvSpPr/>
          <p:nvPr/>
        </p:nvSpPr>
        <p:spPr>
          <a:xfrm>
            <a:off x="6231636" y="4224528"/>
            <a:ext cx="5298948" cy="1097280"/>
          </a:xfrm>
          <a:prstGeom prst="rect">
            <a:avLst/>
          </a:prstGeom>
          <a:solidFill>
            <a:srgbClr val="FFFFFF"/>
          </a:solidFill>
          <a:ln w="9525">
            <a:solidFill>
              <a:srgbClr val="DCE4E4"/>
            </a:solidFill>
            <a:prstDash val="solid"/>
          </a:ln>
        </p:spPr>
      </p:sp>
      <p:sp>
        <p:nvSpPr>
          <p:cNvPr id="13" name="Text 10"/>
          <p:cNvSpPr/>
          <p:nvPr/>
        </p:nvSpPr>
        <p:spPr>
          <a:xfrm>
            <a:off x="6396228" y="4352544"/>
            <a:ext cx="4969764" cy="219456"/>
          </a:xfrm>
          <a:prstGeom prst="rect">
            <a:avLst/>
          </a:prstGeom>
          <a:noFill/>
          <a:ln/>
        </p:spPr>
        <p:txBody>
          <a:bodyPr wrap="square" rtlCol="0" anchor="ctr"/>
          <a:lstStyle/>
          <a:p>
            <a:pPr indent="0" marL="0">
              <a:buNone/>
            </a:pPr>
            <a:r>
              <a:rPr lang="en-US" sz="850" b="1" spc="120" kern="0" dirty="0">
                <a:solidFill>
                  <a:srgbClr val="5A6B6E"/>
                </a:solidFill>
                <a:latin typeface="Segoe UI" pitchFamily="34" charset="0"/>
                <a:ea typeface="Segoe UI" pitchFamily="34" charset="-122"/>
                <a:cs typeface="Segoe UI" pitchFamily="34" charset="-120"/>
              </a:rPr>
              <a:t>CONFIDENCE CALIBRATION</a:t>
            </a:r>
            <a:endParaRPr lang="en-US" sz="850" dirty="0"/>
          </a:p>
        </p:txBody>
      </p:sp>
      <p:sp>
        <p:nvSpPr>
          <p:cNvPr id="14" name="Text 11"/>
          <p:cNvSpPr/>
          <p:nvPr/>
        </p:nvSpPr>
        <p:spPr>
          <a:xfrm>
            <a:off x="6396228" y="4572000"/>
            <a:ext cx="4969764" cy="420624"/>
          </a:xfrm>
          <a:prstGeom prst="rect">
            <a:avLst/>
          </a:prstGeom>
          <a:noFill/>
          <a:ln/>
        </p:spPr>
        <p:txBody>
          <a:bodyPr wrap="square" rtlCol="0" anchor="ctr"/>
          <a:lstStyle/>
          <a:p>
            <a:pPr indent="0" marL="0">
              <a:buNone/>
            </a:pPr>
            <a:r>
              <a:rPr lang="en-US" sz="1600" b="1" dirty="0">
                <a:solidFill>
                  <a:srgbClr val="0D7D6C"/>
                </a:solidFill>
                <a:latin typeface="Consolas" pitchFamily="34" charset="0"/>
                <a:ea typeface="Consolas" pitchFamily="34" charset="-122"/>
                <a:cs typeface="Consolas" pitchFamily="34" charset="-120"/>
              </a:rPr>
              <a:t>0.074 error</a:t>
            </a:r>
            <a:endParaRPr lang="en-US" sz="1600" dirty="0"/>
          </a:p>
        </p:txBody>
      </p:sp>
      <p:sp>
        <p:nvSpPr>
          <p:cNvPr id="15" name="Text 12"/>
          <p:cNvSpPr/>
          <p:nvPr/>
        </p:nvSpPr>
        <p:spPr>
          <a:xfrm>
            <a:off x="6396228" y="5010912"/>
            <a:ext cx="4969764" cy="329184"/>
          </a:xfrm>
          <a:prstGeom prst="rect">
            <a:avLst/>
          </a:prstGeom>
          <a:noFill/>
          <a:ln/>
        </p:spPr>
        <p:txBody>
          <a:bodyPr wrap="square" rtlCol="0" anchor="ctr"/>
          <a:lstStyle/>
          <a:p>
            <a:pPr indent="0" marL="0">
              <a:buNone/>
            </a:pPr>
            <a:r>
              <a:rPr lang="en-US" sz="1000" dirty="0">
                <a:solidFill>
                  <a:srgbClr val="8A9A9C"/>
                </a:solidFill>
                <a:latin typeface="Georgia" pitchFamily="34" charset="0"/>
                <a:ea typeface="Georgia" pitchFamily="34" charset="-122"/>
                <a:cs typeface="Georgia" pitchFamily="34" charset="-120"/>
              </a:rPr>
              <a:t>Stated 0.547 vs realised 0.474</a:t>
            </a:r>
            <a:endParaRPr lang="en-US" sz="1000" dirty="0"/>
          </a:p>
        </p:txBody>
      </p:sp>
      <p:sp>
        <p:nvSpPr>
          <p:cNvPr id="16" name="Text 13"/>
          <p:cNvSpPr/>
          <p:nvPr/>
        </p:nvSpPr>
        <p:spPr>
          <a:xfrm>
            <a:off x="658368" y="6382512"/>
            <a:ext cx="5486400" cy="237744"/>
          </a:xfrm>
          <a:prstGeom prst="rect">
            <a:avLst/>
          </a:prstGeom>
          <a:noFill/>
          <a:ln/>
        </p:spPr>
        <p:txBody>
          <a:bodyPr wrap="square" rtlCol="0" anchor="ctr"/>
          <a:lstStyle/>
          <a:p>
            <a:pPr indent="0" marL="0">
              <a:buNone/>
            </a:pPr>
            <a:r>
              <a:rPr lang="en-US" sz="900" dirty="0">
                <a:solidFill>
                  <a:srgbClr val="8A9A9C"/>
                </a:solidFill>
                <a:latin typeface="Segoe UI" pitchFamily="34" charset="0"/>
                <a:ea typeface="Segoe UI" pitchFamily="34" charset="-122"/>
                <a:cs typeface="Segoe UI" pitchFamily="34" charset="-120"/>
              </a:rPr>
              <a:t>ANTON by openEXPERT — Markets pillar</a:t>
            </a:r>
            <a:endParaRPr lang="en-US" sz="900" dirty="0"/>
          </a:p>
        </p:txBody>
      </p:sp>
      <p:sp>
        <p:nvSpPr>
          <p:cNvPr id="17" name="Text 14"/>
          <p:cNvSpPr/>
          <p:nvPr/>
        </p:nvSpPr>
        <p:spPr>
          <a:xfrm>
            <a:off x="10981944" y="6382512"/>
            <a:ext cx="548640" cy="237744"/>
          </a:xfrm>
          <a:prstGeom prst="rect">
            <a:avLst/>
          </a:prstGeom>
          <a:noFill/>
          <a:ln/>
        </p:spPr>
        <p:txBody>
          <a:bodyPr wrap="square" rtlCol="0" anchor="ctr"/>
          <a:lstStyle/>
          <a:p>
            <a:pPr algn="r" indent="0" marL="0">
              <a:buNone/>
            </a:pPr>
            <a:r>
              <a:rPr lang="en-US" sz="900" dirty="0">
                <a:solidFill>
                  <a:srgbClr val="8A9A9C"/>
                </a:solidFill>
                <a:latin typeface="Consolas" pitchFamily="34" charset="0"/>
                <a:ea typeface="Consolas" pitchFamily="34" charset="-122"/>
                <a:cs typeface="Consola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B"/>
        </a:solidFill>
      </p:bgPr>
    </p:bg>
    <p:spTree>
      <p:nvGrpSpPr>
        <p:cNvPr id="1" name=""/>
        <p:cNvGrpSpPr/>
        <p:nvPr/>
      </p:nvGrpSpPr>
      <p:grpSpPr>
        <a:xfrm>
          <a:off x="0" y="0"/>
          <a:ext cx="0" cy="0"/>
          <a:chOff x="0" y="0"/>
          <a:chExt cx="0" cy="0"/>
        </a:xfrm>
      </p:grpSpPr>
      <p:sp>
        <p:nvSpPr>
          <p:cNvPr id="2" name="Text 0"/>
          <p:cNvSpPr/>
          <p:nvPr/>
        </p:nvSpPr>
        <p:spPr>
          <a:xfrm>
            <a:off x="658368" y="384048"/>
            <a:ext cx="10872216" cy="237744"/>
          </a:xfrm>
          <a:prstGeom prst="rect">
            <a:avLst/>
          </a:prstGeom>
          <a:noFill/>
          <a:ln/>
        </p:spPr>
        <p:txBody>
          <a:bodyPr wrap="square" rtlCol="0" anchor="ctr"/>
          <a:lstStyle/>
          <a:p>
            <a:pPr indent="0" marL="0">
              <a:buNone/>
            </a:pPr>
            <a:r>
              <a:rPr lang="en-US" sz="1000" b="1" spc="160" kern="0" dirty="0">
                <a:solidFill>
                  <a:srgbClr val="5A6B6E"/>
                </a:solidFill>
                <a:latin typeface="Segoe UI" pitchFamily="34" charset="0"/>
                <a:ea typeface="Segoe UI" pitchFamily="34" charset="-122"/>
                <a:cs typeface="Segoe UI" pitchFamily="34" charset="-120"/>
              </a:rPr>
              <a:t>THE DIFFERENTIATOR</a:t>
            </a:r>
            <a:endParaRPr lang="en-US" sz="1000" dirty="0"/>
          </a:p>
        </p:txBody>
      </p:sp>
      <p:sp>
        <p:nvSpPr>
          <p:cNvPr id="3" name="Text 1"/>
          <p:cNvSpPr/>
          <p:nvPr/>
        </p:nvSpPr>
        <p:spPr>
          <a:xfrm>
            <a:off x="658368" y="658368"/>
            <a:ext cx="10872216" cy="658368"/>
          </a:xfrm>
          <a:prstGeom prst="rect">
            <a:avLst/>
          </a:prstGeom>
          <a:noFill/>
          <a:ln/>
        </p:spPr>
        <p:txBody>
          <a:bodyPr wrap="square" rtlCol="0" anchor="ctr"/>
          <a:lstStyle/>
          <a:p>
            <a:pPr indent="0" marL="0">
              <a:buNone/>
            </a:pPr>
            <a:r>
              <a:rPr lang="en-US" sz="2700" b="1" dirty="0">
                <a:solidFill>
                  <a:srgbClr val="0C1719"/>
                </a:solidFill>
                <a:latin typeface="Segoe UI" pitchFamily="34" charset="0"/>
                <a:ea typeface="Segoe UI" pitchFamily="34" charset="-122"/>
                <a:cs typeface="Segoe UI" pitchFamily="34" charset="-120"/>
              </a:rPr>
              <a:t>Calibration separates a tool from a toy</a:t>
            </a:r>
            <a:endParaRPr lang="en-US" sz="2700" dirty="0"/>
          </a:p>
        </p:txBody>
      </p:sp>
      <p:sp>
        <p:nvSpPr>
          <p:cNvPr id="4" name="Shape 2"/>
          <p:cNvSpPr/>
          <p:nvPr/>
        </p:nvSpPr>
        <p:spPr>
          <a:xfrm>
            <a:off x="658368" y="1389888"/>
            <a:ext cx="10872216" cy="10973"/>
          </a:xfrm>
          <a:prstGeom prst="rect">
            <a:avLst/>
          </a:prstGeom>
          <a:solidFill>
            <a:srgbClr val="DCE4E4"/>
          </a:solidFill>
          <a:ln w="12700">
            <a:solidFill>
              <a:srgbClr val="333333"/>
            </a:solidFill>
            <a:prstDash val="solid"/>
          </a:ln>
        </p:spPr>
      </p:sp>
      <p:sp>
        <p:nvSpPr>
          <p:cNvPr id="5" name="Text 3"/>
          <p:cNvSpPr/>
          <p:nvPr/>
        </p:nvSpPr>
        <p:spPr>
          <a:xfrm>
            <a:off x="658368" y="1691640"/>
            <a:ext cx="6949440" cy="868680"/>
          </a:xfrm>
          <a:prstGeom prst="rect">
            <a:avLst/>
          </a:prstGeom>
          <a:noFill/>
          <a:ln/>
        </p:spPr>
        <p:txBody>
          <a:bodyPr wrap="square" rtlCol="0" anchor="ctr"/>
          <a:lstStyle/>
          <a:p>
            <a:pPr indent="0" marL="0">
              <a:lnSpc>
                <a:spcPct val="135000"/>
              </a:lnSpc>
              <a:buNone/>
            </a:pPr>
            <a:r>
              <a:rPr lang="en-US" sz="1400" dirty="0">
                <a:solidFill>
                  <a:srgbClr val="0C1719"/>
                </a:solidFill>
                <a:latin typeface="Georgia" pitchFamily="34" charset="0"/>
                <a:ea typeface="Georgia" pitchFamily="34" charset="-122"/>
                <a:cs typeface="Georgia" pitchFamily="34" charset="-120"/>
              </a:rPr>
              <a:t>Hit rate alone is nearly meaningless — it can be gamed by only predicting the obvious. Calibration asks the harder question: when this system says it is 55% sure, is it right about 55% of the time?</a:t>
            </a:r>
            <a:endParaRPr lang="en-US" sz="1400" dirty="0"/>
          </a:p>
        </p:txBody>
      </p:sp>
      <p:sp>
        <p:nvSpPr>
          <p:cNvPr id="6" name="Text 4"/>
          <p:cNvSpPr/>
          <p:nvPr/>
        </p:nvSpPr>
        <p:spPr>
          <a:xfrm>
            <a:off x="658368" y="2743200"/>
            <a:ext cx="6949440" cy="548640"/>
          </a:xfrm>
          <a:prstGeom prst="rect">
            <a:avLst/>
          </a:prstGeom>
          <a:noFill/>
          <a:ln/>
        </p:spPr>
        <p:txBody>
          <a:bodyPr wrap="square" rtlCol="0" anchor="ctr"/>
          <a:lstStyle/>
          <a:p>
            <a:pPr indent="0" marL="0">
              <a:lnSpc>
                <a:spcPct val="130000"/>
              </a:lnSpc>
              <a:buNone/>
            </a:pPr>
            <a:r>
              <a:rPr lang="en-US" sz="1400" b="1" dirty="0">
                <a:solidFill>
                  <a:srgbClr val="0C1719"/>
                </a:solidFill>
                <a:latin typeface="Georgia" pitchFamily="34" charset="0"/>
                <a:ea typeface="Georgia" pitchFamily="34" charset="-122"/>
                <a:cs typeface="Georgia" pitchFamily="34" charset="-120"/>
              </a:rPr>
              <a:t>A well-calibrated 53% forecaster is useful</a:t>
            </a:r>
            <a:pPr indent="0" marL="0">
              <a:lnSpc>
                <a:spcPct val="130000"/>
              </a:lnSpc>
              <a:buNone/>
            </a:pPr>
            <a:r>
              <a:rPr lang="en-US" sz="1400" dirty="0">
                <a:solidFill>
                  <a:srgbClr val="5A6B6E"/>
                </a:solidFill>
                <a:latin typeface="Georgia" pitchFamily="34" charset="0"/>
                <a:ea typeface="Georgia" pitchFamily="34" charset="-122"/>
                <a:cs typeface="Georgia" pitchFamily="34" charset="-120"/>
              </a:rPr>
              <a:t>, because its confidence can be sized against. </a:t>
            </a:r>
            <a:pPr indent="0" marL="0">
              <a:lnSpc>
                <a:spcPct val="130000"/>
              </a:lnSpc>
              <a:buNone/>
            </a:pPr>
            <a:r>
              <a:rPr lang="en-US" sz="1400" b="1" dirty="0">
                <a:solidFill>
                  <a:srgbClr val="9E3F37"/>
                </a:solidFill>
                <a:latin typeface="Georgia" pitchFamily="34" charset="0"/>
                <a:ea typeface="Georgia" pitchFamily="34" charset="-122"/>
                <a:cs typeface="Georgia" pitchFamily="34" charset="-120"/>
              </a:rPr>
              <a:t>A miscalibrated 70% forecaster is dangerous.</a:t>
            </a:r>
            <a:endParaRPr lang="en-US" sz="1400" dirty="0"/>
          </a:p>
        </p:txBody>
      </p:sp>
      <p:sp>
        <p:nvSpPr>
          <p:cNvPr id="7" name="Text 5"/>
          <p:cNvSpPr/>
          <p:nvPr/>
        </p:nvSpPr>
        <p:spPr>
          <a:xfrm>
            <a:off x="658368" y="3611880"/>
            <a:ext cx="1097280" cy="237744"/>
          </a:xfrm>
          <a:prstGeom prst="rect">
            <a:avLst/>
          </a:prstGeom>
          <a:noFill/>
          <a:ln/>
        </p:spPr>
        <p:txBody>
          <a:bodyPr wrap="square" rtlCol="0" anchor="ctr"/>
          <a:lstStyle/>
          <a:p>
            <a:pPr indent="0" marL="0">
              <a:buNone/>
            </a:pPr>
            <a:r>
              <a:rPr lang="en-US" sz="950" b="1" spc="120" kern="0" dirty="0">
                <a:solidFill>
                  <a:srgbClr val="5A6B6E"/>
                </a:solidFill>
                <a:latin typeface="Segoe UI" pitchFamily="34" charset="0"/>
                <a:ea typeface="Segoe UI" pitchFamily="34" charset="-122"/>
                <a:cs typeface="Segoe UI" pitchFamily="34" charset="-120"/>
              </a:rPr>
              <a:t>STATED</a:t>
            </a:r>
            <a:endParaRPr lang="en-US" sz="950" dirty="0"/>
          </a:p>
        </p:txBody>
      </p:sp>
      <p:sp>
        <p:nvSpPr>
          <p:cNvPr id="8" name="Shape 6"/>
          <p:cNvSpPr/>
          <p:nvPr/>
        </p:nvSpPr>
        <p:spPr>
          <a:xfrm>
            <a:off x="1847088" y="3611880"/>
            <a:ext cx="4937760" cy="237744"/>
          </a:xfrm>
          <a:prstGeom prst="rect">
            <a:avLst/>
          </a:prstGeom>
          <a:solidFill>
            <a:srgbClr val="F1F4F4"/>
          </a:solidFill>
          <a:ln w="6350">
            <a:solidFill>
              <a:srgbClr val="DCE4E4"/>
            </a:solidFill>
            <a:prstDash val="solid"/>
          </a:ln>
        </p:spPr>
      </p:sp>
      <p:sp>
        <p:nvSpPr>
          <p:cNvPr id="9" name="Shape 7"/>
          <p:cNvSpPr/>
          <p:nvPr/>
        </p:nvSpPr>
        <p:spPr>
          <a:xfrm>
            <a:off x="1847088" y="3611880"/>
            <a:ext cx="2700955" cy="237744"/>
          </a:xfrm>
          <a:prstGeom prst="rect">
            <a:avLst/>
          </a:prstGeom>
          <a:solidFill>
            <a:srgbClr val="0D7D6C"/>
          </a:solidFill>
          <a:ln w="12700">
            <a:solidFill>
              <a:srgbClr val="333333"/>
            </a:solidFill>
            <a:prstDash val="solid"/>
          </a:ln>
        </p:spPr>
      </p:sp>
      <p:sp>
        <p:nvSpPr>
          <p:cNvPr id="10" name="Text 8"/>
          <p:cNvSpPr/>
          <p:nvPr/>
        </p:nvSpPr>
        <p:spPr>
          <a:xfrm>
            <a:off x="6830568" y="3611880"/>
            <a:ext cx="777240" cy="237744"/>
          </a:xfrm>
          <a:prstGeom prst="rect">
            <a:avLst/>
          </a:prstGeom>
          <a:noFill/>
          <a:ln/>
        </p:spPr>
        <p:txBody>
          <a:bodyPr wrap="square" rtlCol="0" anchor="ctr"/>
          <a:lstStyle/>
          <a:p>
            <a:pPr algn="r" indent="0" marL="0">
              <a:buNone/>
            </a:pPr>
            <a:r>
              <a:rPr lang="en-US" sz="1100" dirty="0">
                <a:solidFill>
                  <a:srgbClr val="0C1719"/>
                </a:solidFill>
                <a:latin typeface="Consolas" pitchFamily="34" charset="0"/>
                <a:ea typeface="Consolas" pitchFamily="34" charset="-122"/>
                <a:cs typeface="Consolas" pitchFamily="34" charset="-120"/>
              </a:rPr>
              <a:t>0.547</a:t>
            </a:r>
            <a:endParaRPr lang="en-US" sz="1100" dirty="0"/>
          </a:p>
        </p:txBody>
      </p:sp>
      <p:sp>
        <p:nvSpPr>
          <p:cNvPr id="11" name="Text 9"/>
          <p:cNvSpPr/>
          <p:nvPr/>
        </p:nvSpPr>
        <p:spPr>
          <a:xfrm>
            <a:off x="658368" y="4032504"/>
            <a:ext cx="1097280" cy="237744"/>
          </a:xfrm>
          <a:prstGeom prst="rect">
            <a:avLst/>
          </a:prstGeom>
          <a:noFill/>
          <a:ln/>
        </p:spPr>
        <p:txBody>
          <a:bodyPr wrap="square" rtlCol="0" anchor="ctr"/>
          <a:lstStyle/>
          <a:p>
            <a:pPr indent="0" marL="0">
              <a:buNone/>
            </a:pPr>
            <a:r>
              <a:rPr lang="en-US" sz="950" b="1" spc="120" kern="0" dirty="0">
                <a:solidFill>
                  <a:srgbClr val="5A6B6E"/>
                </a:solidFill>
                <a:latin typeface="Segoe UI" pitchFamily="34" charset="0"/>
                <a:ea typeface="Segoe UI" pitchFamily="34" charset="-122"/>
                <a:cs typeface="Segoe UI" pitchFamily="34" charset="-120"/>
              </a:rPr>
              <a:t>REALISED</a:t>
            </a:r>
            <a:endParaRPr lang="en-US" sz="950" dirty="0"/>
          </a:p>
        </p:txBody>
      </p:sp>
      <p:sp>
        <p:nvSpPr>
          <p:cNvPr id="12" name="Shape 10"/>
          <p:cNvSpPr/>
          <p:nvPr/>
        </p:nvSpPr>
        <p:spPr>
          <a:xfrm>
            <a:off x="1847088" y="4032504"/>
            <a:ext cx="4937760" cy="237744"/>
          </a:xfrm>
          <a:prstGeom prst="rect">
            <a:avLst/>
          </a:prstGeom>
          <a:solidFill>
            <a:srgbClr val="F1F4F4"/>
          </a:solidFill>
          <a:ln w="6350">
            <a:solidFill>
              <a:srgbClr val="DCE4E4"/>
            </a:solidFill>
            <a:prstDash val="solid"/>
          </a:ln>
        </p:spPr>
      </p:sp>
      <p:sp>
        <p:nvSpPr>
          <p:cNvPr id="13" name="Shape 11"/>
          <p:cNvSpPr/>
          <p:nvPr/>
        </p:nvSpPr>
        <p:spPr>
          <a:xfrm>
            <a:off x="1847088" y="4032504"/>
            <a:ext cx="2340498" cy="237744"/>
          </a:xfrm>
          <a:prstGeom prst="rect">
            <a:avLst/>
          </a:prstGeom>
          <a:solidFill>
            <a:srgbClr val="5A6B6E"/>
          </a:solidFill>
          <a:ln w="12700">
            <a:solidFill>
              <a:srgbClr val="333333"/>
            </a:solidFill>
            <a:prstDash val="solid"/>
          </a:ln>
        </p:spPr>
      </p:sp>
      <p:sp>
        <p:nvSpPr>
          <p:cNvPr id="14" name="Text 12"/>
          <p:cNvSpPr/>
          <p:nvPr/>
        </p:nvSpPr>
        <p:spPr>
          <a:xfrm>
            <a:off x="6830568" y="4032504"/>
            <a:ext cx="777240" cy="237744"/>
          </a:xfrm>
          <a:prstGeom prst="rect">
            <a:avLst/>
          </a:prstGeom>
          <a:noFill/>
          <a:ln/>
        </p:spPr>
        <p:txBody>
          <a:bodyPr wrap="square" rtlCol="0" anchor="ctr"/>
          <a:lstStyle/>
          <a:p>
            <a:pPr algn="r" indent="0" marL="0">
              <a:buNone/>
            </a:pPr>
            <a:r>
              <a:rPr lang="en-US" sz="1100" dirty="0">
                <a:solidFill>
                  <a:srgbClr val="0C1719"/>
                </a:solidFill>
                <a:latin typeface="Consolas" pitchFamily="34" charset="0"/>
                <a:ea typeface="Consolas" pitchFamily="34" charset="-122"/>
                <a:cs typeface="Consolas" pitchFamily="34" charset="-120"/>
              </a:rPr>
              <a:t>0.474</a:t>
            </a:r>
            <a:endParaRPr lang="en-US" sz="1100" dirty="0"/>
          </a:p>
        </p:txBody>
      </p:sp>
      <p:sp>
        <p:nvSpPr>
          <p:cNvPr id="15" name="Text 13"/>
          <p:cNvSpPr/>
          <p:nvPr/>
        </p:nvSpPr>
        <p:spPr>
          <a:xfrm>
            <a:off x="658368" y="4434840"/>
            <a:ext cx="5486400" cy="274320"/>
          </a:xfrm>
          <a:prstGeom prst="rect">
            <a:avLst/>
          </a:prstGeom>
          <a:noFill/>
          <a:ln/>
        </p:spPr>
        <p:txBody>
          <a:bodyPr wrap="square" rtlCol="0" anchor="ctr"/>
          <a:lstStyle/>
          <a:p>
            <a:pPr indent="0" marL="0">
              <a:buNone/>
            </a:pPr>
            <a:r>
              <a:rPr lang="en-US" sz="1050" i="1" dirty="0">
                <a:solidFill>
                  <a:srgbClr val="8A9A9C"/>
                </a:solidFill>
                <a:latin typeface="Georgia" pitchFamily="34" charset="0"/>
                <a:ea typeface="Georgia" pitchFamily="34" charset="-122"/>
                <a:cs typeface="Georgia" pitchFamily="34" charset="-120"/>
              </a:rPr>
              <a:t>Confidence bucket 0.40–0.60, n = 57.</a:t>
            </a:r>
            <a:endParaRPr lang="en-US" sz="1050" dirty="0"/>
          </a:p>
        </p:txBody>
      </p:sp>
      <p:sp>
        <p:nvSpPr>
          <p:cNvPr id="16" name="Shape 14"/>
          <p:cNvSpPr/>
          <p:nvPr/>
        </p:nvSpPr>
        <p:spPr>
          <a:xfrm>
            <a:off x="8138160" y="1691640"/>
            <a:ext cx="3383280" cy="3017520"/>
          </a:xfrm>
          <a:prstGeom prst="rect">
            <a:avLst/>
          </a:prstGeom>
          <a:solidFill>
            <a:srgbClr val="F7EFDE"/>
          </a:solidFill>
          <a:ln w="9525">
            <a:solidFill>
              <a:srgbClr val="DCE4E4"/>
            </a:solidFill>
            <a:prstDash val="solid"/>
          </a:ln>
        </p:spPr>
      </p:sp>
      <p:sp>
        <p:nvSpPr>
          <p:cNvPr id="17" name="Text 15"/>
          <p:cNvSpPr/>
          <p:nvPr/>
        </p:nvSpPr>
        <p:spPr>
          <a:xfrm>
            <a:off x="8357616" y="1901952"/>
            <a:ext cx="2926080" cy="237744"/>
          </a:xfrm>
          <a:prstGeom prst="rect">
            <a:avLst/>
          </a:prstGeom>
          <a:noFill/>
          <a:ln/>
        </p:spPr>
        <p:txBody>
          <a:bodyPr wrap="square" rtlCol="0" anchor="ctr"/>
          <a:lstStyle/>
          <a:p>
            <a:pPr indent="0" marL="0">
              <a:buNone/>
            </a:pPr>
            <a:r>
              <a:rPr lang="en-US" sz="900" b="1" spc="140" kern="0" dirty="0">
                <a:solidFill>
                  <a:srgbClr val="8A6010"/>
                </a:solidFill>
                <a:latin typeface="Segoe UI" pitchFamily="34" charset="0"/>
                <a:ea typeface="Segoe UI" pitchFamily="34" charset="-122"/>
                <a:cs typeface="Segoe UI" pitchFamily="34" charset="-120"/>
              </a:rPr>
              <a:t>WHERE THIS STARTED</a:t>
            </a:r>
            <a:endParaRPr lang="en-US" sz="900" dirty="0"/>
          </a:p>
        </p:txBody>
      </p:sp>
      <p:sp>
        <p:nvSpPr>
          <p:cNvPr id="18" name="Text 16"/>
          <p:cNvSpPr/>
          <p:nvPr/>
        </p:nvSpPr>
        <p:spPr>
          <a:xfrm>
            <a:off x="8357616" y="2212848"/>
            <a:ext cx="2926080" cy="566928"/>
          </a:xfrm>
          <a:prstGeom prst="rect">
            <a:avLst/>
          </a:prstGeom>
          <a:noFill/>
          <a:ln/>
        </p:spPr>
        <p:txBody>
          <a:bodyPr wrap="square" rtlCol="0" anchor="ctr"/>
          <a:lstStyle/>
          <a:p>
            <a:pPr indent="0" marL="0">
              <a:buNone/>
            </a:pPr>
            <a:r>
              <a:rPr lang="en-US" sz="3400" b="1" dirty="0">
                <a:solidFill>
                  <a:srgbClr val="8A6010"/>
                </a:solidFill>
                <a:latin typeface="Consolas" pitchFamily="34" charset="0"/>
                <a:ea typeface="Consolas" pitchFamily="34" charset="-122"/>
                <a:cs typeface="Consolas" pitchFamily="34" charset="-120"/>
              </a:rPr>
              <a:t>21%</a:t>
            </a:r>
            <a:endParaRPr lang="en-US" sz="3400" dirty="0"/>
          </a:p>
        </p:txBody>
      </p:sp>
      <p:sp>
        <p:nvSpPr>
          <p:cNvPr id="19" name="Text 17"/>
          <p:cNvSpPr/>
          <p:nvPr/>
        </p:nvSpPr>
        <p:spPr>
          <a:xfrm>
            <a:off x="8357616" y="2880360"/>
            <a:ext cx="2926080" cy="1645920"/>
          </a:xfrm>
          <a:prstGeom prst="rect">
            <a:avLst/>
          </a:prstGeom>
          <a:noFill/>
          <a:ln/>
        </p:spPr>
        <p:txBody>
          <a:bodyPr wrap="square" rtlCol="0" anchor="ctr"/>
          <a:lstStyle/>
          <a:p>
            <a:pPr indent="0" marL="0">
              <a:lnSpc>
                <a:spcPct val="130000"/>
              </a:lnSpc>
              <a:buNone/>
            </a:pPr>
            <a:r>
              <a:rPr lang="en-US" sz="1150" dirty="0">
                <a:solidFill>
                  <a:srgbClr val="0C1719"/>
                </a:solidFill>
                <a:latin typeface="Georgia" pitchFamily="34" charset="0"/>
                <a:ea typeface="Georgia" pitchFamily="34" charset="-122"/>
                <a:cs typeface="Georgia" pitchFamily="34" charset="-120"/>
              </a:rPr>
              <a:t>accuracy with INVERTED calibration — the system was most wrong when it was most confident. That audit finding is what triggered the rebuild these figures come from.</a:t>
            </a:r>
            <a:endParaRPr lang="en-US" sz="1150" dirty="0"/>
          </a:p>
        </p:txBody>
      </p:sp>
      <p:sp>
        <p:nvSpPr>
          <p:cNvPr id="20" name="Text 18"/>
          <p:cNvSpPr/>
          <p:nvPr/>
        </p:nvSpPr>
        <p:spPr>
          <a:xfrm>
            <a:off x="658368" y="6382512"/>
            <a:ext cx="5486400" cy="237744"/>
          </a:xfrm>
          <a:prstGeom prst="rect">
            <a:avLst/>
          </a:prstGeom>
          <a:noFill/>
          <a:ln/>
        </p:spPr>
        <p:txBody>
          <a:bodyPr wrap="square" rtlCol="0" anchor="ctr"/>
          <a:lstStyle/>
          <a:p>
            <a:pPr indent="0" marL="0">
              <a:buNone/>
            </a:pPr>
            <a:r>
              <a:rPr lang="en-US" sz="900" dirty="0">
                <a:solidFill>
                  <a:srgbClr val="8A9A9C"/>
                </a:solidFill>
                <a:latin typeface="Segoe UI" pitchFamily="34" charset="0"/>
                <a:ea typeface="Segoe UI" pitchFamily="34" charset="-122"/>
                <a:cs typeface="Segoe UI" pitchFamily="34" charset="-120"/>
              </a:rPr>
              <a:t>ANTON by openEXPERT — Markets pillar</a:t>
            </a:r>
            <a:endParaRPr lang="en-US" sz="900" dirty="0"/>
          </a:p>
        </p:txBody>
      </p:sp>
      <p:sp>
        <p:nvSpPr>
          <p:cNvPr id="21" name="Text 19"/>
          <p:cNvSpPr/>
          <p:nvPr/>
        </p:nvSpPr>
        <p:spPr>
          <a:xfrm>
            <a:off x="10981944" y="6382512"/>
            <a:ext cx="548640" cy="237744"/>
          </a:xfrm>
          <a:prstGeom prst="rect">
            <a:avLst/>
          </a:prstGeom>
          <a:noFill/>
          <a:ln/>
        </p:spPr>
        <p:txBody>
          <a:bodyPr wrap="square" rtlCol="0" anchor="ctr"/>
          <a:lstStyle/>
          <a:p>
            <a:pPr algn="r" indent="0" marL="0">
              <a:buNone/>
            </a:pPr>
            <a:r>
              <a:rPr lang="en-US" sz="900" dirty="0">
                <a:solidFill>
                  <a:srgbClr val="8A9A9C"/>
                </a:solidFill>
                <a:latin typeface="Consolas" pitchFamily="34" charset="0"/>
                <a:ea typeface="Consolas" pitchFamily="34" charset="-122"/>
                <a:cs typeface="Consola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B"/>
        </a:solidFill>
      </p:bgPr>
    </p:bg>
    <p:spTree>
      <p:nvGrpSpPr>
        <p:cNvPr id="1" name=""/>
        <p:cNvGrpSpPr/>
        <p:nvPr/>
      </p:nvGrpSpPr>
      <p:grpSpPr>
        <a:xfrm>
          <a:off x="0" y="0"/>
          <a:ext cx="0" cy="0"/>
          <a:chOff x="0" y="0"/>
          <a:chExt cx="0" cy="0"/>
        </a:xfrm>
      </p:grpSpPr>
      <p:sp>
        <p:nvSpPr>
          <p:cNvPr id="2" name="Text 0"/>
          <p:cNvSpPr/>
          <p:nvPr/>
        </p:nvSpPr>
        <p:spPr>
          <a:xfrm>
            <a:off x="658368" y="384048"/>
            <a:ext cx="10872216" cy="237744"/>
          </a:xfrm>
          <a:prstGeom prst="rect">
            <a:avLst/>
          </a:prstGeom>
          <a:noFill/>
          <a:ln/>
        </p:spPr>
        <p:txBody>
          <a:bodyPr wrap="square" rtlCol="0" anchor="ctr"/>
          <a:lstStyle/>
          <a:p>
            <a:pPr indent="0" marL="0">
              <a:buNone/>
            </a:pPr>
            <a:r>
              <a:rPr lang="en-US" sz="1000" b="1" spc="160" kern="0" dirty="0">
                <a:solidFill>
                  <a:srgbClr val="5A6B6E"/>
                </a:solidFill>
                <a:latin typeface="Segoe UI" pitchFamily="34" charset="0"/>
                <a:ea typeface="Segoe UI" pitchFamily="34" charset="-122"/>
                <a:cs typeface="Segoe UI" pitchFamily="34" charset="-120"/>
              </a:rPr>
              <a:t>FORECAST TO PORTFOLIO</a:t>
            </a:r>
            <a:endParaRPr lang="en-US" sz="1000" dirty="0"/>
          </a:p>
        </p:txBody>
      </p:sp>
      <p:sp>
        <p:nvSpPr>
          <p:cNvPr id="3" name="Text 1"/>
          <p:cNvSpPr/>
          <p:nvPr/>
        </p:nvSpPr>
        <p:spPr>
          <a:xfrm>
            <a:off x="658368" y="658368"/>
            <a:ext cx="10872216" cy="658368"/>
          </a:xfrm>
          <a:prstGeom prst="rect">
            <a:avLst/>
          </a:prstGeom>
          <a:noFill/>
          <a:ln/>
        </p:spPr>
        <p:txBody>
          <a:bodyPr wrap="square" rtlCol="0" anchor="ctr"/>
          <a:lstStyle/>
          <a:p>
            <a:pPr indent="0" marL="0">
              <a:buNone/>
            </a:pPr>
            <a:r>
              <a:rPr lang="en-US" sz="2700" b="1" dirty="0">
                <a:solidFill>
                  <a:srgbClr val="0C1719"/>
                </a:solidFill>
                <a:latin typeface="Segoe UI" pitchFamily="34" charset="0"/>
                <a:ea typeface="Segoe UI" pitchFamily="34" charset="-122"/>
                <a:cs typeface="Segoe UI" pitchFamily="34" charset="-120"/>
              </a:rPr>
              <a:t>Every prediction carries an attribution ledger</a:t>
            </a:r>
            <a:endParaRPr lang="en-US" sz="2700" dirty="0"/>
          </a:p>
        </p:txBody>
      </p:sp>
      <p:sp>
        <p:nvSpPr>
          <p:cNvPr id="4" name="Shape 2"/>
          <p:cNvSpPr/>
          <p:nvPr/>
        </p:nvSpPr>
        <p:spPr>
          <a:xfrm>
            <a:off x="658368" y="1389888"/>
            <a:ext cx="10872216" cy="10973"/>
          </a:xfrm>
          <a:prstGeom prst="rect">
            <a:avLst/>
          </a:prstGeom>
          <a:solidFill>
            <a:srgbClr val="DCE4E4"/>
          </a:solidFill>
          <a:ln w="12700">
            <a:solidFill>
              <a:srgbClr val="333333"/>
            </a:solidFill>
            <a:prstDash val="solid"/>
          </a:ln>
        </p:spPr>
      </p:sp>
      <p:sp>
        <p:nvSpPr>
          <p:cNvPr id="5" name="Text 3"/>
          <p:cNvSpPr/>
          <p:nvPr/>
        </p:nvSpPr>
        <p:spPr>
          <a:xfrm>
            <a:off x="658368" y="1664208"/>
            <a:ext cx="10872216" cy="868680"/>
          </a:xfrm>
          <a:prstGeom prst="rect">
            <a:avLst/>
          </a:prstGeom>
          <a:noFill/>
          <a:ln/>
        </p:spPr>
        <p:txBody>
          <a:bodyPr wrap="square" rtlCol="0" anchor="ctr"/>
          <a:lstStyle/>
          <a:p>
            <a:pPr indent="0" marL="0">
              <a:lnSpc>
                <a:spcPct val="135000"/>
              </a:lnSpc>
              <a:buNone/>
            </a:pPr>
            <a:r>
              <a:rPr lang="en-US" sz="1400" dirty="0">
                <a:solidFill>
                  <a:srgbClr val="0C1719"/>
                </a:solidFill>
                <a:latin typeface="Georgia" pitchFamily="34" charset="0"/>
                <a:ea typeface="Georgia" pitchFamily="34" charset="-122"/>
                <a:cs typeface="Georgia" pitchFamily="34" charset="-120"/>
              </a:rPr>
              <a:t>When conviction scores move a weight, the system records which predictions informed the move, then computes what it was worth: weight change multiplied by subsequent return, per position. This is the link most AI-in-finance demonstrations omit, and the only one an allocator cares about.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58368" y="2697480"/>
          <a:ext cx="7680960" cy="914400"/>
        </p:xfrm>
        <a:graphic>
          <a:graphicData uri="http://schemas.openxmlformats.org/drawingml/2006/table">
            <a:tbl>
              <a:tblPr/>
              <a:tblGrid>
                <a:gridCol w="1920240"/>
                <a:gridCol w="1920240"/>
                <a:gridCol w="1920240"/>
                <a:gridCol w="1920240"/>
              </a:tblGrid>
              <a:tr h="310896">
                <a:tc>
                  <a:txBody>
                    <a:bodyPr/>
                    <a:lstStyle/>
                    <a:p>
                      <a:pPr indent="0" marL="0">
                        <a:buNone/>
                      </a:pPr>
                      <a:r>
                        <a:rPr lang="en-US" sz="1100" b="1" dirty="0">
                          <a:solidFill>
                            <a:srgbClr val="06584C"/>
                          </a:solidFill>
                          <a:latin typeface="Segoe UI" pitchFamily="34" charset="0"/>
                          <a:ea typeface="Segoe UI" pitchFamily="34" charset="-122"/>
                          <a:cs typeface="Segoe UI" pitchFamily="34" charset="-120"/>
                        </a:rPr>
                        <a:t>Position</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c>
                  <a:txBody>
                    <a:bodyPr/>
                    <a:lstStyle/>
                    <a:p>
                      <a:pPr algn="r" indent="0" marL="0">
                        <a:buNone/>
                      </a:pPr>
                      <a:r>
                        <a:rPr lang="en-US" sz="1100" b="1" dirty="0">
                          <a:solidFill>
                            <a:srgbClr val="06584C"/>
                          </a:solidFill>
                          <a:latin typeface="Segoe UI" pitchFamily="34" charset="0"/>
                          <a:ea typeface="Segoe UI" pitchFamily="34" charset="-122"/>
                          <a:cs typeface="Segoe UI" pitchFamily="34" charset="-120"/>
                        </a:rPr>
                        <a:t>Weight change</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c>
                  <a:txBody>
                    <a:bodyPr/>
                    <a:lstStyle/>
                    <a:p>
                      <a:pPr algn="r" indent="0" marL="0">
                        <a:buNone/>
                      </a:pPr>
                      <a:r>
                        <a:rPr lang="en-US" sz="1100" b="1" dirty="0">
                          <a:solidFill>
                            <a:srgbClr val="06584C"/>
                          </a:solidFill>
                          <a:latin typeface="Segoe UI" pitchFamily="34" charset="0"/>
                          <a:ea typeface="Segoe UI" pitchFamily="34" charset="-122"/>
                          <a:cs typeface="Segoe UI" pitchFamily="34" charset="-120"/>
                        </a:rPr>
                        <a:t>Subsequent return</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c>
                  <a:txBody>
                    <a:bodyPr/>
                    <a:lstStyle/>
                    <a:p>
                      <a:pPr algn="r" indent="0" marL="0">
                        <a:buNone/>
                      </a:pPr>
                      <a:r>
                        <a:rPr lang="en-US" sz="1100" b="1" dirty="0">
                          <a:solidFill>
                            <a:srgbClr val="06584C"/>
                          </a:solidFill>
                          <a:latin typeface="Segoe UI" pitchFamily="34" charset="0"/>
                          <a:ea typeface="Segoe UI" pitchFamily="34" charset="-122"/>
                          <a:cs typeface="Segoe UI" pitchFamily="34" charset="-120"/>
                        </a:rPr>
                        <a:t>Contribution</a:t>
                      </a:r>
                      <a:endParaRPr lang="en-US" sz="1100" dirty="0">
                        <a:latin typeface="Segoe UI" charset="0"/>
                        <a:ea typeface="Segoe UI" charset="0"/>
                        <a:cs typeface="Segoe UI"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solidFill>
                      <a:srgbClr val="E6F2EF"/>
                    </a:solidFill>
                  </a:tcPr>
                </a:tc>
              </a:tr>
              <a:tr h="310896">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META</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−2.35%</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−9.45%</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b="1" dirty="0">
                          <a:solidFill>
                            <a:srgbClr val="06584C"/>
                          </a:solidFill>
                          <a:latin typeface="Consolas" pitchFamily="34" charset="0"/>
                          <a:ea typeface="Consolas" pitchFamily="34" charset="-122"/>
                          <a:cs typeface="Consolas" pitchFamily="34" charset="-120"/>
                        </a:rPr>
                        <a:t>+22.2 bps</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10896">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NFLX</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+3.21%</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+2.49%</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6584C"/>
                          </a:solidFill>
                          <a:latin typeface="Consolas" pitchFamily="34" charset="0"/>
                          <a:ea typeface="Consolas" pitchFamily="34" charset="-122"/>
                          <a:cs typeface="Consolas" pitchFamily="34" charset="-120"/>
                        </a:rPr>
                        <a:t>+8.0 bps</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10896">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JPM</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−2.96%</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+0.89%</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9E3F37"/>
                          </a:solidFill>
                          <a:latin typeface="Consolas" pitchFamily="34" charset="0"/>
                          <a:ea typeface="Consolas" pitchFamily="34" charset="-122"/>
                          <a:cs typeface="Consolas" pitchFamily="34" charset="-120"/>
                        </a:rPr>
                        <a:t>−2.6 bps</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r h="310896">
                <a:tc>
                  <a:txBody>
                    <a:bodyPr/>
                    <a:lstStyle/>
                    <a:p>
                      <a:pPr indent="0" marL="0">
                        <a:buNone/>
                      </a:pPr>
                      <a:r>
                        <a:rPr lang="en-US" sz="1100" dirty="0">
                          <a:solidFill>
                            <a:srgbClr val="0C1719"/>
                          </a:solidFill>
                          <a:latin typeface="Georgia" pitchFamily="34" charset="0"/>
                          <a:ea typeface="Georgia" pitchFamily="34" charset="-122"/>
                          <a:cs typeface="Georgia" pitchFamily="34" charset="-120"/>
                        </a:rPr>
                        <a:t>UNH</a:t>
                      </a:r>
                      <a:endParaRPr lang="en-US" sz="1100" dirty="0">
                        <a:latin typeface="Georgia" charset="0"/>
                        <a:ea typeface="Georgia" charset="0"/>
                        <a:cs typeface="Georgia"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−2.77%</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0C1719"/>
                          </a:solidFill>
                          <a:latin typeface="Consolas" pitchFamily="34" charset="0"/>
                          <a:ea typeface="Consolas" pitchFamily="34" charset="-122"/>
                          <a:cs typeface="Consolas" pitchFamily="34" charset="-120"/>
                        </a:rPr>
                        <a:t>+4.18%</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c>
                  <a:txBody>
                    <a:bodyPr/>
                    <a:lstStyle/>
                    <a:p>
                      <a:pPr algn="r" indent="0" marL="0">
                        <a:buNone/>
                      </a:pPr>
                      <a:r>
                        <a:rPr lang="en-US" sz="1100" dirty="0">
                          <a:solidFill>
                            <a:srgbClr val="9E3F37"/>
                          </a:solidFill>
                          <a:latin typeface="Consolas" pitchFamily="34" charset="0"/>
                          <a:ea typeface="Consolas" pitchFamily="34" charset="-122"/>
                          <a:cs typeface="Consolas" pitchFamily="34" charset="-120"/>
                        </a:rPr>
                        <a:t>−11.6 bps</a:t>
                      </a:r>
                      <a:endParaRPr lang="en-US" sz="1100" dirty="0">
                        <a:latin typeface="Consolas" charset="0"/>
                        <a:ea typeface="Consolas" charset="0"/>
                        <a:cs typeface="Consolas" charset="0"/>
                      </a:endParaRPr>
                    </a:p>
                  </a:txBody>
                  <a:tcPr marL="63500" marR="63500" marT="63500" marB="63500" anchor="ctr">
                    <a:lnL w="6350" cap="flat" cmpd="sng" algn="ctr">
                      <a:solidFill>
                        <a:srgbClr val="DCE4E4"/>
                      </a:solidFill>
                      <a:prstDash val="solid"/>
                      <a:round/>
                      <a:headEnd type="none" w="med" len="med"/>
                      <a:tailEnd type="none" w="med" len="med"/>
                    </a:lnL>
                    <a:lnR w="6350" cap="flat" cmpd="sng" algn="ctr">
                      <a:solidFill>
                        <a:srgbClr val="DCE4E4"/>
                      </a:solidFill>
                      <a:prstDash val="solid"/>
                      <a:round/>
                      <a:headEnd type="none" w="med" len="med"/>
                      <a:tailEnd type="none" w="med" len="med"/>
                    </a:lnR>
                    <a:lnT w="6350" cap="flat" cmpd="sng" algn="ctr">
                      <a:solidFill>
                        <a:srgbClr val="DCE4E4"/>
                      </a:solidFill>
                      <a:prstDash val="solid"/>
                      <a:round/>
                      <a:headEnd type="none" w="med" len="med"/>
                      <a:tailEnd type="none" w="med" len="med"/>
                    </a:lnT>
                    <a:lnB w="6350" cap="flat" cmpd="sng" algn="ctr">
                      <a:solidFill>
                        <a:srgbClr val="DCE4E4"/>
                      </a:solidFill>
                      <a:prstDash val="solid"/>
                      <a:round/>
                      <a:headEnd type="none" w="med" len="med"/>
                      <a:tailEnd type="none" w="med" len="med"/>
                    </a:lnB>
                  </a:tcPr>
                </a:tc>
              </a:tr>
            </a:tbl>
          </a:graphicData>
        </a:graphic>
      </p:graphicFrame>
      <p:sp>
        <p:nvSpPr>
          <p:cNvPr id="7" name="Text 4"/>
          <p:cNvSpPr/>
          <p:nvPr/>
        </p:nvSpPr>
        <p:spPr>
          <a:xfrm>
            <a:off x="658368" y="4343400"/>
            <a:ext cx="7680960" cy="274320"/>
          </a:xfrm>
          <a:prstGeom prst="rect">
            <a:avLst/>
          </a:prstGeom>
          <a:noFill/>
          <a:ln/>
        </p:spPr>
        <p:txBody>
          <a:bodyPr wrap="square" rtlCol="0" anchor="ctr"/>
          <a:lstStyle/>
          <a:p>
            <a:pPr indent="0" marL="0">
              <a:buNone/>
            </a:pPr>
            <a:r>
              <a:rPr lang="en-US" sz="1100" i="1" dirty="0">
                <a:solidFill>
                  <a:srgbClr val="8A9A9C"/>
                </a:solidFill>
                <a:latin typeface="Georgia" pitchFamily="34" charset="0"/>
                <a:ea typeface="Georgia" pitchFamily="34" charset="-122"/>
                <a:cs typeface="Georgia" pitchFamily="34" charset="-120"/>
              </a:rPr>
              <a:t>Six positions, three helped, three hurt — total +0.155%. Rebalance of 27 April 2026.</a:t>
            </a:r>
            <a:endParaRPr lang="en-US" sz="1100" dirty="0"/>
          </a:p>
        </p:txBody>
      </p:sp>
      <p:sp>
        <p:nvSpPr>
          <p:cNvPr id="8" name="Shape 5"/>
          <p:cNvSpPr/>
          <p:nvPr/>
        </p:nvSpPr>
        <p:spPr>
          <a:xfrm>
            <a:off x="8595360" y="2697480"/>
            <a:ext cx="2926080" cy="1920240"/>
          </a:xfrm>
          <a:prstGeom prst="rect">
            <a:avLst/>
          </a:prstGeom>
          <a:solidFill>
            <a:srgbClr val="F7EFDE"/>
          </a:solidFill>
          <a:ln w="9525">
            <a:solidFill>
              <a:srgbClr val="DCE4E4"/>
            </a:solidFill>
            <a:prstDash val="solid"/>
          </a:ln>
        </p:spPr>
      </p:sp>
      <p:sp>
        <p:nvSpPr>
          <p:cNvPr id="9" name="Text 6"/>
          <p:cNvSpPr/>
          <p:nvPr/>
        </p:nvSpPr>
        <p:spPr>
          <a:xfrm>
            <a:off x="8796528" y="2898648"/>
            <a:ext cx="2560320" cy="237744"/>
          </a:xfrm>
          <a:prstGeom prst="rect">
            <a:avLst/>
          </a:prstGeom>
          <a:noFill/>
          <a:ln/>
        </p:spPr>
        <p:txBody>
          <a:bodyPr wrap="square" rtlCol="0" anchor="ctr"/>
          <a:lstStyle/>
          <a:p>
            <a:pPr indent="0" marL="0">
              <a:buNone/>
            </a:pPr>
            <a:r>
              <a:rPr lang="en-US" sz="900" b="1" spc="140" kern="0" dirty="0">
                <a:solidFill>
                  <a:srgbClr val="8A6010"/>
                </a:solidFill>
                <a:latin typeface="Segoe UI" pitchFamily="34" charset="0"/>
                <a:ea typeface="Segoe UI" pitchFamily="34" charset="-122"/>
                <a:cs typeface="Segoe UI" pitchFamily="34" charset="-120"/>
              </a:rPr>
              <a:t>LIVE TRADING IS OFF</a:t>
            </a:r>
            <a:endParaRPr lang="en-US" sz="900" dirty="0"/>
          </a:p>
        </p:txBody>
      </p:sp>
      <p:sp>
        <p:nvSpPr>
          <p:cNvPr id="10" name="Text 7"/>
          <p:cNvSpPr/>
          <p:nvPr/>
        </p:nvSpPr>
        <p:spPr>
          <a:xfrm>
            <a:off x="8796528" y="3227832"/>
            <a:ext cx="2560320" cy="1325880"/>
          </a:xfrm>
          <a:prstGeom prst="rect">
            <a:avLst/>
          </a:prstGeom>
          <a:noFill/>
          <a:ln/>
        </p:spPr>
        <p:txBody>
          <a:bodyPr wrap="square" rtlCol="0" anchor="ctr"/>
          <a:lstStyle/>
          <a:p>
            <a:pPr indent="0" marL="0">
              <a:lnSpc>
                <a:spcPct val="130000"/>
              </a:lnSpc>
              <a:buNone/>
            </a:pPr>
            <a:r>
              <a:rPr lang="en-US" sz="1150" dirty="0">
                <a:solidFill>
                  <a:srgbClr val="0C1719"/>
                </a:solidFill>
                <a:latin typeface="Georgia" pitchFamily="34" charset="0"/>
                <a:ea typeface="Georgia" pitchFamily="34" charset="-122"/>
                <a:cs typeface="Georgia" pitchFamily="34" charset="-120"/>
              </a:rPr>
              <a:t>Predictions have moved the portfolio exactly once. Everything since runs in shadow: proposals recorded, nothing traded. On the evidence, that is the correct setting.</a:t>
            </a:r>
            <a:endParaRPr lang="en-US" sz="1150" dirty="0"/>
          </a:p>
        </p:txBody>
      </p:sp>
      <p:sp>
        <p:nvSpPr>
          <p:cNvPr id="11" name="Text 8"/>
          <p:cNvSpPr/>
          <p:nvPr/>
        </p:nvSpPr>
        <p:spPr>
          <a:xfrm>
            <a:off x="658368" y="6382512"/>
            <a:ext cx="5486400" cy="237744"/>
          </a:xfrm>
          <a:prstGeom prst="rect">
            <a:avLst/>
          </a:prstGeom>
          <a:noFill/>
          <a:ln/>
        </p:spPr>
        <p:txBody>
          <a:bodyPr wrap="square" rtlCol="0" anchor="ctr"/>
          <a:lstStyle/>
          <a:p>
            <a:pPr indent="0" marL="0">
              <a:buNone/>
            </a:pPr>
            <a:r>
              <a:rPr lang="en-US" sz="900" dirty="0">
                <a:solidFill>
                  <a:srgbClr val="8A9A9C"/>
                </a:solidFill>
                <a:latin typeface="Segoe UI" pitchFamily="34" charset="0"/>
                <a:ea typeface="Segoe UI" pitchFamily="34" charset="-122"/>
                <a:cs typeface="Segoe UI" pitchFamily="34" charset="-120"/>
              </a:rPr>
              <a:t>ANTON by openEXPERT — Markets pillar</a:t>
            </a:r>
            <a:endParaRPr lang="en-US" sz="900" dirty="0"/>
          </a:p>
        </p:txBody>
      </p:sp>
      <p:sp>
        <p:nvSpPr>
          <p:cNvPr id="12" name="Text 9"/>
          <p:cNvSpPr/>
          <p:nvPr/>
        </p:nvSpPr>
        <p:spPr>
          <a:xfrm>
            <a:off x="10981944" y="6382512"/>
            <a:ext cx="548640" cy="237744"/>
          </a:xfrm>
          <a:prstGeom prst="rect">
            <a:avLst/>
          </a:prstGeom>
          <a:noFill/>
          <a:ln/>
        </p:spPr>
        <p:txBody>
          <a:bodyPr wrap="square" rtlCol="0" anchor="ctr"/>
          <a:lstStyle/>
          <a:p>
            <a:pPr algn="r" indent="0" marL="0">
              <a:buNone/>
            </a:pPr>
            <a:r>
              <a:rPr lang="en-US" sz="900" dirty="0">
                <a:solidFill>
                  <a:srgbClr val="8A9A9C"/>
                </a:solidFill>
                <a:latin typeface="Consolas" pitchFamily="34" charset="0"/>
                <a:ea typeface="Consolas" pitchFamily="34" charset="-122"/>
                <a:cs typeface="Consola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B"/>
        </a:solidFill>
      </p:bgPr>
    </p:bg>
    <p:spTree>
      <p:nvGrpSpPr>
        <p:cNvPr id="1" name=""/>
        <p:cNvGrpSpPr/>
        <p:nvPr/>
      </p:nvGrpSpPr>
      <p:grpSpPr>
        <a:xfrm>
          <a:off x="0" y="0"/>
          <a:ext cx="0" cy="0"/>
          <a:chOff x="0" y="0"/>
          <a:chExt cx="0" cy="0"/>
        </a:xfrm>
      </p:grpSpPr>
      <p:sp>
        <p:nvSpPr>
          <p:cNvPr id="2" name="Text 0"/>
          <p:cNvSpPr/>
          <p:nvPr/>
        </p:nvSpPr>
        <p:spPr>
          <a:xfrm>
            <a:off x="658368" y="384048"/>
            <a:ext cx="10872216" cy="237744"/>
          </a:xfrm>
          <a:prstGeom prst="rect">
            <a:avLst/>
          </a:prstGeom>
          <a:noFill/>
          <a:ln/>
        </p:spPr>
        <p:txBody>
          <a:bodyPr wrap="square" rtlCol="0" anchor="ctr"/>
          <a:lstStyle/>
          <a:p>
            <a:pPr indent="0" marL="0">
              <a:buNone/>
            </a:pPr>
            <a:r>
              <a:rPr lang="en-US" sz="1000" b="1" spc="160" kern="0" dirty="0">
                <a:solidFill>
                  <a:srgbClr val="5A6B6E"/>
                </a:solidFill>
                <a:latin typeface="Segoe UI" pitchFamily="34" charset="0"/>
                <a:ea typeface="Segoe UI" pitchFamily="34" charset="-122"/>
                <a:cs typeface="Segoe UI" pitchFamily="34" charset="-120"/>
              </a:rPr>
              <a:t>DUE DILIGENCE</a:t>
            </a:r>
            <a:endParaRPr lang="en-US" sz="1000" dirty="0"/>
          </a:p>
        </p:txBody>
      </p:sp>
      <p:sp>
        <p:nvSpPr>
          <p:cNvPr id="3" name="Text 1"/>
          <p:cNvSpPr/>
          <p:nvPr/>
        </p:nvSpPr>
        <p:spPr>
          <a:xfrm>
            <a:off x="658368" y="658368"/>
            <a:ext cx="10872216" cy="658368"/>
          </a:xfrm>
          <a:prstGeom prst="rect">
            <a:avLst/>
          </a:prstGeom>
          <a:noFill/>
          <a:ln/>
        </p:spPr>
        <p:txBody>
          <a:bodyPr wrap="square" rtlCol="0" anchor="ctr"/>
          <a:lstStyle/>
          <a:p>
            <a:pPr indent="0" marL="0">
              <a:buNone/>
            </a:pPr>
            <a:r>
              <a:rPr lang="en-US" sz="2700" b="1" dirty="0">
                <a:solidFill>
                  <a:srgbClr val="0C1719"/>
                </a:solidFill>
                <a:latin typeface="Segoe UI" pitchFamily="34" charset="0"/>
                <a:ea typeface="Segoe UI" pitchFamily="34" charset="-122"/>
                <a:cs typeface="Segoe UI" pitchFamily="34" charset="-120"/>
              </a:rPr>
              <a:t>What this proves, and what it does not</a:t>
            </a:r>
            <a:endParaRPr lang="en-US" sz="2700" dirty="0"/>
          </a:p>
        </p:txBody>
      </p:sp>
      <p:sp>
        <p:nvSpPr>
          <p:cNvPr id="4" name="Shape 2"/>
          <p:cNvSpPr/>
          <p:nvPr/>
        </p:nvSpPr>
        <p:spPr>
          <a:xfrm>
            <a:off x="658368" y="1389888"/>
            <a:ext cx="10872216" cy="10973"/>
          </a:xfrm>
          <a:prstGeom prst="rect">
            <a:avLst/>
          </a:prstGeom>
          <a:solidFill>
            <a:srgbClr val="DCE4E4"/>
          </a:solidFill>
          <a:ln w="12700">
            <a:solidFill>
              <a:srgbClr val="333333"/>
            </a:solidFill>
            <a:prstDash val="solid"/>
          </a:ln>
        </p:spPr>
      </p:sp>
      <p:sp>
        <p:nvSpPr>
          <p:cNvPr id="5" name="Shape 3"/>
          <p:cNvSpPr/>
          <p:nvPr/>
        </p:nvSpPr>
        <p:spPr>
          <a:xfrm>
            <a:off x="658368" y="1691640"/>
            <a:ext cx="5298948" cy="3611880"/>
          </a:xfrm>
          <a:prstGeom prst="rect">
            <a:avLst/>
          </a:prstGeom>
          <a:solidFill>
            <a:srgbClr val="FFFFFF"/>
          </a:solidFill>
          <a:ln w="9525">
            <a:solidFill>
              <a:srgbClr val="DCE4E4"/>
            </a:solidFill>
            <a:prstDash val="solid"/>
          </a:ln>
        </p:spPr>
      </p:sp>
      <p:sp>
        <p:nvSpPr>
          <p:cNvPr id="6" name="Shape 4"/>
          <p:cNvSpPr/>
          <p:nvPr/>
        </p:nvSpPr>
        <p:spPr>
          <a:xfrm>
            <a:off x="658368" y="1691640"/>
            <a:ext cx="5298948" cy="45720"/>
          </a:xfrm>
          <a:prstGeom prst="rect">
            <a:avLst/>
          </a:prstGeom>
          <a:solidFill>
            <a:srgbClr val="0D7D6C"/>
          </a:solidFill>
          <a:ln w="12700">
            <a:solidFill>
              <a:srgbClr val="333333"/>
            </a:solidFill>
            <a:prstDash val="solid"/>
          </a:ln>
        </p:spPr>
      </p:sp>
      <p:sp>
        <p:nvSpPr>
          <p:cNvPr id="7" name="Text 5"/>
          <p:cNvSpPr/>
          <p:nvPr/>
        </p:nvSpPr>
        <p:spPr>
          <a:xfrm>
            <a:off x="896112" y="1901952"/>
            <a:ext cx="4823460" cy="237744"/>
          </a:xfrm>
          <a:prstGeom prst="rect">
            <a:avLst/>
          </a:prstGeom>
          <a:noFill/>
          <a:ln/>
        </p:spPr>
        <p:txBody>
          <a:bodyPr wrap="square" rtlCol="0" anchor="ctr"/>
          <a:lstStyle/>
          <a:p>
            <a:pPr indent="0" marL="0">
              <a:buNone/>
            </a:pPr>
            <a:r>
              <a:rPr lang="en-US" sz="950" b="1" spc="140" kern="0" dirty="0">
                <a:solidFill>
                  <a:srgbClr val="06584C"/>
                </a:solidFill>
                <a:latin typeface="Segoe UI" pitchFamily="34" charset="0"/>
                <a:ea typeface="Segoe UI" pitchFamily="34" charset="-122"/>
                <a:cs typeface="Segoe UI" pitchFamily="34" charset="-120"/>
              </a:rPr>
              <a:t>DEMONSTRATED</a:t>
            </a:r>
            <a:endParaRPr lang="en-US" sz="950" dirty="0"/>
          </a:p>
        </p:txBody>
      </p:sp>
      <p:sp>
        <p:nvSpPr>
          <p:cNvPr id="8" name="Text 6"/>
          <p:cNvSpPr/>
          <p:nvPr/>
        </p:nvSpPr>
        <p:spPr>
          <a:xfrm>
            <a:off x="896112" y="2249424"/>
            <a:ext cx="4823460" cy="2926080"/>
          </a:xfrm>
          <a:prstGeom prst="rect">
            <a:avLst/>
          </a:prstGeom>
          <a:noFill/>
          <a:ln/>
        </p:spPr>
        <p:txBody>
          <a:bodyPr wrap="square" rtlCol="0" anchor="ctr"/>
          <a:lstStyle/>
          <a:p>
            <a:pPr marL="342900" indent="-342900">
              <a:lnSpc>
                <a:spcPct val="135000"/>
              </a:lnSpc>
              <a:buSzPct val="100000"/>
              <a:buChar char="•"/>
            </a:pPr>
            <a:r>
              <a:rPr lang="en-US" sz="1200" b="1" dirty="0">
                <a:solidFill>
                  <a:srgbClr val="0C1719"/>
                </a:solidFill>
                <a:latin typeface="Georgia" pitchFamily="34" charset="0"/>
                <a:ea typeface="Georgia" pitchFamily="34" charset="-122"/>
                <a:cs typeface="Georgia" pitchFamily="34" charset="-120"/>
              </a:rPr>
              <a:t>The loop closes. </a:t>
            </a:r>
            <a:pPr indent="0" marL="0">
              <a:lnSpc>
                <a:spcPct val="135000"/>
              </a:lnSpc>
              <a:buNone/>
            </a:pPr>
            <a:r>
              <a:rPr lang="en-US" sz="1200" dirty="0">
                <a:solidFill>
                  <a:srgbClr val="0C1719"/>
                </a:solidFill>
                <a:latin typeface="Georgia" pitchFamily="34" charset="0"/>
                <a:ea typeface="Georgia" pitchFamily="34" charset="-122"/>
                <a:cs typeface="Georgia" pitchFamily="34" charset="-120"/>
              </a:rPr>
              <a:t>Prediction, grading, calibration, investigation and attribution run unattended, with zero ungraded predictions past deadline.
</a:t>
            </a:r>
            <a:pPr indent="0" marL="0">
              <a:lnSpc>
                <a:spcPct val="135000"/>
              </a:lnSpc>
              <a:buNone/>
            </a:pPr>
            <a:r>
              <a:rPr lang="en-US" sz="1200" b="1" dirty="0">
                <a:solidFill>
                  <a:srgbClr val="0C1719"/>
                </a:solidFill>
                <a:latin typeface="Georgia" pitchFamily="34" charset="0"/>
                <a:ea typeface="Georgia" pitchFamily="34" charset="-122"/>
                <a:cs typeface="Georgia" pitchFamily="34" charset="-120"/>
              </a:rPr>
              <a:t>Grading is defensible. </a:t>
            </a:r>
            <a:pPr indent="0" marL="0">
              <a:lnSpc>
                <a:spcPct val="135000"/>
              </a:lnSpc>
              <a:buNone/>
            </a:pPr>
            <a:r>
              <a:rPr lang="en-US" sz="1200" dirty="0">
                <a:solidFill>
                  <a:srgbClr val="0C1719"/>
                </a:solidFill>
                <a:latin typeface="Georgia" pitchFamily="34" charset="0"/>
                <a:ea typeface="Georgia" pitchFamily="34" charset="-122"/>
                <a:cs typeface="Georgia" pitchFamily="34" charset="-120"/>
              </a:rPr>
              <a:t>Arithmetic over price data; the model has no vote in its own assessment.
</a:t>
            </a:r>
            <a:pPr indent="0" marL="0">
              <a:lnSpc>
                <a:spcPct val="135000"/>
              </a:lnSpc>
              <a:buNone/>
            </a:pPr>
            <a:r>
              <a:rPr lang="en-US" sz="1200" b="1" dirty="0">
                <a:solidFill>
                  <a:srgbClr val="0C1719"/>
                </a:solidFill>
                <a:latin typeface="Georgia" pitchFamily="34" charset="0"/>
                <a:ea typeface="Georgia" pitchFamily="34" charset="-122"/>
                <a:cs typeface="Georgia" pitchFamily="34" charset="-120"/>
              </a:rPr>
              <a:t>Calibration is measured </a:t>
            </a:r>
            <a:pPr indent="0" marL="0">
              <a:lnSpc>
                <a:spcPct val="135000"/>
              </a:lnSpc>
              <a:buNone/>
            </a:pPr>
            <a:r>
              <a:rPr lang="en-US" sz="1200" dirty="0">
                <a:solidFill>
                  <a:srgbClr val="0C1719"/>
                </a:solidFill>
                <a:latin typeface="Georgia" pitchFamily="34" charset="0"/>
                <a:ea typeface="Georgia" pitchFamily="34" charset="-122"/>
                <a:cs typeface="Georgia" pitchFamily="34" charset="-120"/>
              </a:rPr>
              <a:t>and currently tight, having previously been inverted.
</a:t>
            </a:r>
            <a:pPr indent="0" marL="0">
              <a:lnSpc>
                <a:spcPct val="135000"/>
              </a:lnSpc>
              <a:buNone/>
            </a:pPr>
            <a:r>
              <a:rPr lang="en-US" sz="1200" b="1" dirty="0">
                <a:solidFill>
                  <a:srgbClr val="0C1719"/>
                </a:solidFill>
                <a:latin typeface="Georgia" pitchFamily="34" charset="0"/>
                <a:ea typeface="Georgia" pitchFamily="34" charset="-122"/>
                <a:cs typeface="Georgia" pitchFamily="34" charset="-120"/>
              </a:rPr>
              <a:t>The architecture is portable. </a:t>
            </a:r>
            <a:pPr indent="0" marL="0">
              <a:lnSpc>
                <a:spcPct val="135000"/>
              </a:lnSpc>
              <a:buNone/>
            </a:pPr>
            <a:r>
              <a:rPr lang="en-US" sz="1200" dirty="0">
                <a:solidFill>
                  <a:srgbClr val="0C1719"/>
                </a:solidFill>
                <a:latin typeface="Georgia" pitchFamily="34" charset="0"/>
                <a:ea typeface="Georgia" pitchFamily="34" charset="-122"/>
                <a:cs typeface="Georgia" pitchFamily="34" charset="-120"/>
              </a:rPr>
              <a:t>Model, data providers and grading rules are all swappable.</a:t>
            </a:r>
            <a:endParaRPr lang="en-US" sz="1200" dirty="0"/>
          </a:p>
        </p:txBody>
      </p:sp>
      <p:sp>
        <p:nvSpPr>
          <p:cNvPr id="9" name="Shape 7"/>
          <p:cNvSpPr/>
          <p:nvPr/>
        </p:nvSpPr>
        <p:spPr>
          <a:xfrm>
            <a:off x="6231636" y="1691640"/>
            <a:ext cx="5298948" cy="3611880"/>
          </a:xfrm>
          <a:prstGeom prst="rect">
            <a:avLst/>
          </a:prstGeom>
          <a:solidFill>
            <a:srgbClr val="FFFFFF"/>
          </a:solidFill>
          <a:ln w="9525">
            <a:solidFill>
              <a:srgbClr val="DCE4E4"/>
            </a:solidFill>
            <a:prstDash val="solid"/>
          </a:ln>
        </p:spPr>
      </p:sp>
      <p:sp>
        <p:nvSpPr>
          <p:cNvPr id="10" name="Shape 8"/>
          <p:cNvSpPr/>
          <p:nvPr/>
        </p:nvSpPr>
        <p:spPr>
          <a:xfrm>
            <a:off x="6231636" y="1691640"/>
            <a:ext cx="5298948" cy="45720"/>
          </a:xfrm>
          <a:prstGeom prst="rect">
            <a:avLst/>
          </a:prstGeom>
          <a:solidFill>
            <a:srgbClr val="8A6010"/>
          </a:solidFill>
          <a:ln w="12700">
            <a:solidFill>
              <a:srgbClr val="333333"/>
            </a:solidFill>
            <a:prstDash val="solid"/>
          </a:ln>
        </p:spPr>
      </p:sp>
      <p:sp>
        <p:nvSpPr>
          <p:cNvPr id="11" name="Text 9"/>
          <p:cNvSpPr/>
          <p:nvPr/>
        </p:nvSpPr>
        <p:spPr>
          <a:xfrm>
            <a:off x="6469380" y="1901952"/>
            <a:ext cx="4823460" cy="237744"/>
          </a:xfrm>
          <a:prstGeom prst="rect">
            <a:avLst/>
          </a:prstGeom>
          <a:noFill/>
          <a:ln/>
        </p:spPr>
        <p:txBody>
          <a:bodyPr wrap="square" rtlCol="0" anchor="ctr"/>
          <a:lstStyle/>
          <a:p>
            <a:pPr indent="0" marL="0">
              <a:buNone/>
            </a:pPr>
            <a:r>
              <a:rPr lang="en-US" sz="950" b="1" spc="140" kern="0" dirty="0">
                <a:solidFill>
                  <a:srgbClr val="8A6010"/>
                </a:solidFill>
                <a:latin typeface="Segoe UI" pitchFamily="34" charset="0"/>
                <a:ea typeface="Segoe UI" pitchFamily="34" charset="-122"/>
                <a:cs typeface="Segoe UI" pitchFamily="34" charset="-120"/>
              </a:rPr>
              <a:t>NOT YET DEMONSTRATED</a:t>
            </a:r>
            <a:endParaRPr lang="en-US" sz="950" dirty="0"/>
          </a:p>
        </p:txBody>
      </p:sp>
      <p:sp>
        <p:nvSpPr>
          <p:cNvPr id="12" name="Text 10"/>
          <p:cNvSpPr/>
          <p:nvPr/>
        </p:nvSpPr>
        <p:spPr>
          <a:xfrm>
            <a:off x="6469380" y="2249424"/>
            <a:ext cx="4823460" cy="2926080"/>
          </a:xfrm>
          <a:prstGeom prst="rect">
            <a:avLst/>
          </a:prstGeom>
          <a:noFill/>
          <a:ln/>
        </p:spPr>
        <p:txBody>
          <a:bodyPr wrap="square" rtlCol="0" anchor="ctr"/>
          <a:lstStyle/>
          <a:p>
            <a:pPr marL="342900" indent="-342900">
              <a:lnSpc>
                <a:spcPct val="135000"/>
              </a:lnSpc>
              <a:buSzPct val="100000"/>
              <a:buChar char="•"/>
            </a:pPr>
            <a:r>
              <a:rPr lang="en-US" sz="1200" b="1" dirty="0">
                <a:solidFill>
                  <a:srgbClr val="0C1719"/>
                </a:solidFill>
                <a:latin typeface="Georgia" pitchFamily="34" charset="0"/>
                <a:ea typeface="Georgia" pitchFamily="34" charset="-122"/>
                <a:cs typeface="Georgia" pitchFamily="34" charset="-120"/>
              </a:rPr>
              <a:t>Alpha. </a:t>
            </a:r>
            <a:pPr indent="0" marL="0">
              <a:lnSpc>
                <a:spcPct val="135000"/>
              </a:lnSpc>
              <a:buNone/>
            </a:pPr>
            <a:r>
              <a:rPr lang="en-US" sz="1200" dirty="0">
                <a:solidFill>
                  <a:srgbClr val="0C1719"/>
                </a:solidFill>
                <a:latin typeface="Georgia" pitchFamily="34" charset="0"/>
                <a:ea typeface="Georgia" pitchFamily="34" charset="-122"/>
                <a:cs typeface="Georgia" pitchFamily="34" charset="-120"/>
              </a:rPr>
              <a:t>110 resolved predictions is not a track record. The swing band is below chance.
</a:t>
            </a:r>
            <a:pPr indent="0" marL="0">
              <a:lnSpc>
                <a:spcPct val="135000"/>
              </a:lnSpc>
              <a:buNone/>
            </a:pPr>
            <a:r>
              <a:rPr lang="en-US" sz="1200" b="1" dirty="0">
                <a:solidFill>
                  <a:srgbClr val="0C1719"/>
                </a:solidFill>
                <a:latin typeface="Georgia" pitchFamily="34" charset="0"/>
                <a:ea typeface="Georgia" pitchFamily="34" charset="-122"/>
                <a:cs typeface="Georgia" pitchFamily="34" charset="-120"/>
              </a:rPr>
              <a:t>Live P&amp;L attribution. </a:t>
            </a:r>
            <a:pPr indent="0" marL="0">
              <a:lnSpc>
                <a:spcPct val="135000"/>
              </a:lnSpc>
              <a:buNone/>
            </a:pPr>
            <a:r>
              <a:rPr lang="en-US" sz="1200" dirty="0">
                <a:solidFill>
                  <a:srgbClr val="0C1719"/>
                </a:solidFill>
                <a:latin typeface="Georgia" pitchFamily="34" charset="0"/>
                <a:ea typeface="Georgia" pitchFamily="34" charset="-122"/>
                <a:cs typeface="Georgia" pitchFamily="34" charset="-120"/>
              </a:rPr>
              <a:t>One rebalance, +0.155%, six positions. Meaningless in isolation.
</a:t>
            </a:r>
            <a:pPr indent="0" marL="0">
              <a:lnSpc>
                <a:spcPct val="135000"/>
              </a:lnSpc>
              <a:buNone/>
            </a:pPr>
            <a:r>
              <a:rPr lang="en-US" sz="1200" b="1" dirty="0">
                <a:solidFill>
                  <a:srgbClr val="0C1719"/>
                </a:solidFill>
                <a:latin typeface="Georgia" pitchFamily="34" charset="0"/>
                <a:ea typeface="Georgia" pitchFamily="34" charset="-122"/>
                <a:cs typeface="Georgia" pitchFamily="34" charset="-120"/>
              </a:rPr>
              <a:t>Cost of implementation. </a:t>
            </a:r>
            <a:pPr indent="0" marL="0">
              <a:lnSpc>
                <a:spcPct val="135000"/>
              </a:lnSpc>
              <a:buNone/>
            </a:pPr>
            <a:r>
              <a:rPr lang="en-US" sz="1200" dirty="0">
                <a:solidFill>
                  <a:srgbClr val="0C1719"/>
                </a:solidFill>
                <a:latin typeface="Georgia" pitchFamily="34" charset="0"/>
                <a:ea typeface="Georgia" pitchFamily="34" charset="-122"/>
                <a:cs typeface="Georgia" pitchFamily="34" charset="-120"/>
              </a:rPr>
              <a:t>Nothing here models slippage, borrow or market impact.
</a:t>
            </a:r>
            <a:pPr indent="0" marL="0">
              <a:lnSpc>
                <a:spcPct val="135000"/>
              </a:lnSpc>
              <a:buNone/>
            </a:pPr>
            <a:r>
              <a:rPr lang="en-US" sz="1200" b="1" dirty="0">
                <a:solidFill>
                  <a:srgbClr val="0C1719"/>
                </a:solidFill>
                <a:latin typeface="Georgia" pitchFamily="34" charset="0"/>
                <a:ea typeface="Georgia" pitchFamily="34" charset="-122"/>
                <a:cs typeface="Georgia" pitchFamily="34" charset="-120"/>
              </a:rPr>
              <a:t>Regime robustness. </a:t>
            </a:r>
            <a:pPr indent="0" marL="0">
              <a:lnSpc>
                <a:spcPct val="135000"/>
              </a:lnSpc>
              <a:buNone/>
            </a:pPr>
            <a:r>
              <a:rPr lang="en-US" sz="1200" dirty="0">
                <a:solidFill>
                  <a:srgbClr val="0C1719"/>
                </a:solidFill>
                <a:latin typeface="Georgia" pitchFamily="34" charset="0"/>
                <a:ea typeface="Georgia" pitchFamily="34" charset="-122"/>
                <a:cs typeface="Georgia" pitchFamily="34" charset="-120"/>
              </a:rPr>
              <a:t>The record spans months, not cycles.
</a:t>
            </a:r>
            <a:pPr indent="0" marL="0">
              <a:lnSpc>
                <a:spcPct val="135000"/>
              </a:lnSpc>
              <a:buNone/>
            </a:pPr>
            <a:r>
              <a:rPr lang="en-US" sz="1200" b="1" dirty="0">
                <a:solidFill>
                  <a:srgbClr val="0C1719"/>
                </a:solidFill>
                <a:latin typeface="Georgia" pitchFamily="34" charset="0"/>
                <a:ea typeface="Georgia" pitchFamily="34" charset="-122"/>
                <a:cs typeface="Georgia" pitchFamily="34" charset="-120"/>
              </a:rPr>
              <a:t>Most of the quant shelf. </a:t>
            </a:r>
            <a:pPr indent="0" marL="0">
              <a:lnSpc>
                <a:spcPct val="135000"/>
              </a:lnSpc>
              <a:buNone/>
            </a:pPr>
            <a:r>
              <a:rPr lang="en-US" sz="1200" dirty="0">
                <a:solidFill>
                  <a:srgbClr val="0C1719"/>
                </a:solidFill>
                <a:latin typeface="Georgia" pitchFamily="34" charset="0"/>
                <a:ea typeface="Georgia" pitchFamily="34" charset="-122"/>
                <a:cs typeface="Georgia" pitchFamily="34" charset="-120"/>
              </a:rPr>
              <a:t>Monte Carlo, VaR and portfolio construction remain unwired.</a:t>
            </a:r>
            <a:endParaRPr lang="en-US" sz="1200" dirty="0"/>
          </a:p>
        </p:txBody>
      </p:sp>
      <p:sp>
        <p:nvSpPr>
          <p:cNvPr id="13" name="Text 11"/>
          <p:cNvSpPr/>
          <p:nvPr/>
        </p:nvSpPr>
        <p:spPr>
          <a:xfrm>
            <a:off x="658368" y="6382512"/>
            <a:ext cx="5486400" cy="237744"/>
          </a:xfrm>
          <a:prstGeom prst="rect">
            <a:avLst/>
          </a:prstGeom>
          <a:noFill/>
          <a:ln/>
        </p:spPr>
        <p:txBody>
          <a:bodyPr wrap="square" rtlCol="0" anchor="ctr"/>
          <a:lstStyle/>
          <a:p>
            <a:pPr indent="0" marL="0">
              <a:buNone/>
            </a:pPr>
            <a:r>
              <a:rPr lang="en-US" sz="900" dirty="0">
                <a:solidFill>
                  <a:srgbClr val="8A9A9C"/>
                </a:solidFill>
                <a:latin typeface="Segoe UI" pitchFamily="34" charset="0"/>
                <a:ea typeface="Segoe UI" pitchFamily="34" charset="-122"/>
                <a:cs typeface="Segoe UI" pitchFamily="34" charset="-120"/>
              </a:rPr>
              <a:t>ANTON by openEXPERT — Markets pillar</a:t>
            </a:r>
            <a:endParaRPr lang="en-US" sz="900" dirty="0"/>
          </a:p>
        </p:txBody>
      </p:sp>
      <p:sp>
        <p:nvSpPr>
          <p:cNvPr id="14" name="Text 12"/>
          <p:cNvSpPr/>
          <p:nvPr/>
        </p:nvSpPr>
        <p:spPr>
          <a:xfrm>
            <a:off x="10981944" y="6382512"/>
            <a:ext cx="548640" cy="237744"/>
          </a:xfrm>
          <a:prstGeom prst="rect">
            <a:avLst/>
          </a:prstGeom>
          <a:noFill/>
          <a:ln/>
        </p:spPr>
        <p:txBody>
          <a:bodyPr wrap="square" rtlCol="0" anchor="ctr"/>
          <a:lstStyle/>
          <a:p>
            <a:pPr algn="r" indent="0" marL="0">
              <a:buNone/>
            </a:pPr>
            <a:r>
              <a:rPr lang="en-US" sz="900" dirty="0">
                <a:solidFill>
                  <a:srgbClr val="8A9A9C"/>
                </a:solidFill>
                <a:latin typeface="Consolas" pitchFamily="34" charset="0"/>
                <a:ea typeface="Consolas" pitchFamily="34" charset="-122"/>
                <a:cs typeface="Consola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719"/>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D7D6C"/>
          </a:solidFill>
          <a:ln w="12700">
            <a:solidFill>
              <a:srgbClr val="333333"/>
            </a:solidFill>
            <a:prstDash val="solid"/>
          </a:ln>
        </p:spPr>
      </p:sp>
      <p:sp>
        <p:nvSpPr>
          <p:cNvPr id="3" name="Text 1"/>
          <p:cNvSpPr/>
          <p:nvPr/>
        </p:nvSpPr>
        <p:spPr>
          <a:xfrm>
            <a:off x="841248" y="960120"/>
            <a:ext cx="9144000" cy="274320"/>
          </a:xfrm>
          <a:prstGeom prst="rect">
            <a:avLst/>
          </a:prstGeom>
          <a:noFill/>
          <a:ln/>
        </p:spPr>
        <p:txBody>
          <a:bodyPr wrap="square" rtlCol="0" anchor="ctr"/>
          <a:lstStyle/>
          <a:p>
            <a:pPr indent="0" marL="0">
              <a:buNone/>
            </a:pPr>
            <a:r>
              <a:rPr lang="en-US" sz="1100" b="1" spc="220" kern="0" dirty="0">
                <a:solidFill>
                  <a:srgbClr val="3DD9AE"/>
                </a:solidFill>
                <a:latin typeface="Segoe UI" pitchFamily="34" charset="0"/>
                <a:ea typeface="Segoe UI" pitchFamily="34" charset="-122"/>
                <a:cs typeface="Segoe UI" pitchFamily="34" charset="-120"/>
              </a:rPr>
              <a:t>THE TRANSFERABLE IDEA</a:t>
            </a:r>
            <a:endParaRPr lang="en-US" sz="1100" dirty="0"/>
          </a:p>
        </p:txBody>
      </p:sp>
      <p:sp>
        <p:nvSpPr>
          <p:cNvPr id="4" name="Text 2"/>
          <p:cNvSpPr/>
          <p:nvPr/>
        </p:nvSpPr>
        <p:spPr>
          <a:xfrm>
            <a:off x="841248" y="1444752"/>
            <a:ext cx="10424160" cy="1280160"/>
          </a:xfrm>
          <a:prstGeom prst="rect">
            <a:avLst/>
          </a:prstGeom>
          <a:noFill/>
          <a:ln/>
        </p:spPr>
        <p:txBody>
          <a:bodyPr wrap="square" rtlCol="0" anchor="ctr"/>
          <a:lstStyle/>
          <a:p>
            <a:pPr indent="0" marL="0">
              <a:buNone/>
            </a:pPr>
            <a:r>
              <a:rPr lang="en-US" sz="3400" b="1" dirty="0">
                <a:solidFill>
                  <a:srgbClr val="EAF2F1"/>
                </a:solidFill>
                <a:latin typeface="Segoe UI" pitchFamily="34" charset="0"/>
                <a:ea typeface="Segoe UI" pitchFamily="34" charset="-122"/>
                <a:cs typeface="Segoe UI" pitchFamily="34" charset="-120"/>
              </a:rPr>
              <a:t>Build the scoreboard before you build the strategy.</a:t>
            </a:r>
            <a:endParaRPr lang="en-US" sz="3400" dirty="0"/>
          </a:p>
        </p:txBody>
      </p:sp>
      <p:sp>
        <p:nvSpPr>
          <p:cNvPr id="5" name="Text 3"/>
          <p:cNvSpPr/>
          <p:nvPr/>
        </p:nvSpPr>
        <p:spPr>
          <a:xfrm>
            <a:off x="841248" y="2697480"/>
            <a:ext cx="9052560" cy="1188720"/>
          </a:xfrm>
          <a:prstGeom prst="rect">
            <a:avLst/>
          </a:prstGeom>
          <a:noFill/>
          <a:ln/>
        </p:spPr>
        <p:txBody>
          <a:bodyPr wrap="square" rtlCol="0" anchor="ctr"/>
          <a:lstStyle/>
          <a:p>
            <a:pPr indent="0" marL="0">
              <a:lnSpc>
                <a:spcPct val="135000"/>
              </a:lnSpc>
              <a:buNone/>
            </a:pPr>
            <a:r>
              <a:rPr lang="en-US" sz="1500" dirty="0">
                <a:solidFill>
                  <a:srgbClr val="C3D3D2"/>
                </a:solidFill>
                <a:latin typeface="Georgia" pitchFamily="34" charset="0"/>
                <a:ea typeface="Georgia" pitchFamily="34" charset="-122"/>
                <a:cs typeface="Georgia" pitchFamily="34" charset="-120"/>
              </a:rPr>
              <a:t>An AI system that cannot be scored cannot be improved, and cannot be governed. Once every opinion carries a deadline, a confidence and a deterministic settlement rule, three things follow that are otherwise unavailable: you can calibrate, you can attribute, and you can put the thing in front of a risk committee.</a:t>
            </a:r>
            <a:endParaRPr lang="en-US" sz="1500" dirty="0"/>
          </a:p>
        </p:txBody>
      </p:sp>
      <p:sp>
        <p:nvSpPr>
          <p:cNvPr id="6" name="Shape 4"/>
          <p:cNvSpPr/>
          <p:nvPr/>
        </p:nvSpPr>
        <p:spPr>
          <a:xfrm>
            <a:off x="841248" y="4160520"/>
            <a:ext cx="10424160" cy="1508760"/>
          </a:xfrm>
          <a:prstGeom prst="rect">
            <a:avLst/>
          </a:prstGeom>
          <a:solidFill>
            <a:srgbClr val="101E21"/>
          </a:solidFill>
          <a:ln w="9525">
            <a:solidFill>
              <a:srgbClr val="1E3134"/>
            </a:solidFill>
            <a:prstDash val="solid"/>
          </a:ln>
        </p:spPr>
      </p:sp>
      <p:sp>
        <p:nvSpPr>
          <p:cNvPr id="7" name="Text 5"/>
          <p:cNvSpPr/>
          <p:nvPr/>
        </p:nvSpPr>
        <p:spPr>
          <a:xfrm>
            <a:off x="1060704" y="4343400"/>
            <a:ext cx="9966960" cy="1188720"/>
          </a:xfrm>
          <a:prstGeom prst="rect">
            <a:avLst/>
          </a:prstGeom>
          <a:noFill/>
          <a:ln/>
        </p:spPr>
        <p:txBody>
          <a:bodyPr wrap="square" rtlCol="0" anchor="ctr"/>
          <a:lstStyle/>
          <a:p>
            <a:pPr indent="0" marL="0">
              <a:lnSpc>
                <a:spcPct val="130000"/>
              </a:lnSpc>
              <a:buNone/>
            </a:pPr>
            <a:r>
              <a:rPr lang="en-US" sz="1250" b="1" dirty="0">
                <a:solidFill>
                  <a:srgbClr val="3DD9AE"/>
                </a:solidFill>
                <a:latin typeface="Georgia" pitchFamily="34" charset="0"/>
                <a:ea typeface="Georgia" pitchFamily="34" charset="-122"/>
                <a:cs typeface="Georgia" pitchFamily="34" charset="-120"/>
              </a:rPr>
              <a:t>A working illustration. </a:t>
            </a:r>
            <a:pPr indent="0" marL="0">
              <a:lnSpc>
                <a:spcPct val="130000"/>
              </a:lnSpc>
              <a:buNone/>
            </a:pPr>
            <a:r>
              <a:rPr lang="en-US" sz="1250" dirty="0">
                <a:solidFill>
                  <a:srgbClr val="C3D3D2"/>
                </a:solidFill>
                <a:latin typeface="Georgia" pitchFamily="34" charset="0"/>
                <a:ea typeface="Georgia" pitchFamily="34" charset="-122"/>
                <a:cs typeface="Georgia" pitchFamily="34" charset="-120"/>
              </a:rPr>
              <a:t>In the week before this was written, the instrumentation surfaced eight silent defects in its own measurement chain — a grader that crashed on a date type and reported success, a price feed serving three-week-old data while logging "OK", an indicator block that threw on a missing field so every forecast was made blind. Each had been failing quietly for months. A system that only produces opinions has no way to discover any of that.</a:t>
            </a:r>
            <a:endParaRPr lang="en-US" sz="1250" dirty="0"/>
          </a:p>
        </p:txBody>
      </p:sp>
      <p:sp>
        <p:nvSpPr>
          <p:cNvPr id="8" name="Text 6"/>
          <p:cNvSpPr/>
          <p:nvPr/>
        </p:nvSpPr>
        <p:spPr>
          <a:xfrm>
            <a:off x="841248" y="6236208"/>
            <a:ext cx="10058400" cy="274320"/>
          </a:xfrm>
          <a:prstGeom prst="rect">
            <a:avLst/>
          </a:prstGeom>
          <a:noFill/>
          <a:ln/>
        </p:spPr>
        <p:txBody>
          <a:bodyPr wrap="square" rtlCol="0" anchor="ctr"/>
          <a:lstStyle/>
          <a:p>
            <a:pPr indent="0" marL="0">
              <a:buNone/>
            </a:pPr>
            <a:r>
              <a:rPr lang="en-US" sz="950" dirty="0">
                <a:solidFill>
                  <a:srgbClr val="64797B"/>
                </a:solidFill>
                <a:latin typeface="Segoe UI" pitchFamily="34" charset="0"/>
                <a:ea typeface="Segoe UI" pitchFamily="34" charset="-122"/>
                <a:cs typeface="Segoe UI" pitchFamily="34" charset="-120"/>
              </a:rPr>
              <a:t>Not investment advice. All figures describe a research system operating on model portfolios with no capital deployed.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openEXPERT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ANTON Markets</dc:title>
  <dc:subject>Closed-loop AI forecasting — architecture and live scoreboard</dc:subject>
  <dc:creator>ANTON by openEXPERT</dc:creator>
  <cp:lastModifiedBy>ANTON by openEXPERT</cp:lastModifiedBy>
  <cp:revision>1</cp:revision>
  <dcterms:created xsi:type="dcterms:W3CDTF">2026-08-20T08:03:10Z</dcterms:created>
  <dcterms:modified xsi:type="dcterms:W3CDTF">2026-08-20T08:03:10Z</dcterms:modified>
</cp:coreProperties>
</file>